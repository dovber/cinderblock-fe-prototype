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0ea352c49c4285" /><Relationship Type="http://schemas.openxmlformats.org/officeDocument/2006/relationships/extended-properties" Target="/docProps/app.xml" Id="R9d9cc5f442414025" /><Relationship Type="http://schemas.openxmlformats.org/officeDocument/2006/relationships/officeDocument" Target="/ppt/presentation.xml" Id="R0bd097448a4b40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82c7eb2b0848ee"/>
  </p:sldMasterIdLst>
  <p:notesMasterIdLst>
    <p:notesMasterId xmlns:r="http://schemas.openxmlformats.org/officeDocument/2006/relationships" r:id="R2eceecbab4cb49b4"/>
  </p:notesMasterIdLst>
  <p:sldIdLst>
    <p:sldId xmlns:r="http://schemas.openxmlformats.org/officeDocument/2006/relationships" id="256" r:id="Red02d3c27a1f43e3"/>
    <p:sldId xmlns:r="http://schemas.openxmlformats.org/officeDocument/2006/relationships" id="257" r:id="R0b29872052cd437d"/>
    <p:sldId xmlns:r="http://schemas.openxmlformats.org/officeDocument/2006/relationships" id="258" r:id="Rd4fd0751457649b8"/>
    <p:sldId xmlns:r="http://schemas.openxmlformats.org/officeDocument/2006/relationships" id="259" r:id="Rf173a8ce6bec40ad"/>
    <p:sldId xmlns:r="http://schemas.openxmlformats.org/officeDocument/2006/relationships" id="260" r:id="Ra52e66a68c034715"/>
    <p:sldId xmlns:r="http://schemas.openxmlformats.org/officeDocument/2006/relationships" id="261" r:id="Rc0f3923c80e1440f"/>
    <p:sldId xmlns:r="http://schemas.openxmlformats.org/officeDocument/2006/relationships" id="262" r:id="R715581e3c1b448ee"/>
    <p:sldId xmlns:r="http://schemas.openxmlformats.org/officeDocument/2006/relationships" id="263" r:id="R36b5d6c7e4554f84"/>
    <p:sldId xmlns:r="http://schemas.openxmlformats.org/officeDocument/2006/relationships" id="264" r:id="R254a1cd4d47b4482"/>
    <p:sldId xmlns:r="http://schemas.openxmlformats.org/officeDocument/2006/relationships" id="265" r:id="Rbf3c7c9ae6df4ccc"/>
    <p:sldId xmlns:r="http://schemas.openxmlformats.org/officeDocument/2006/relationships" id="266" r:id="Ra14f19a93de24530"/>
    <p:sldId xmlns:r="http://schemas.openxmlformats.org/officeDocument/2006/relationships" id="267" r:id="R8b3594e1dd9449c3"/>
    <p:sldId xmlns:r="http://schemas.openxmlformats.org/officeDocument/2006/relationships" id="268" r:id="Rf041d1cce4ee49dc"/>
    <p:sldId xmlns:r="http://schemas.openxmlformats.org/officeDocument/2006/relationships" id="269" r:id="R8b2c5300684c42e9"/>
    <p:sldId xmlns:r="http://schemas.openxmlformats.org/officeDocument/2006/relationships" id="270" r:id="Re063ec45b97a4d75"/>
    <p:sldId xmlns:r="http://schemas.openxmlformats.org/officeDocument/2006/relationships" id="271" r:id="R7cf9821c45dd4b40"/>
    <p:sldId xmlns:r="http://schemas.openxmlformats.org/officeDocument/2006/relationships" id="272" r:id="R017f66f667a54b7f"/>
    <p:sldId xmlns:r="http://schemas.openxmlformats.org/officeDocument/2006/relationships" id="273" r:id="R37c1739c071e4607"/>
    <p:sldId xmlns:r="http://schemas.openxmlformats.org/officeDocument/2006/relationships" id="274" r:id="R4863041441a14102"/>
    <p:sldId xmlns:r="http://schemas.openxmlformats.org/officeDocument/2006/relationships" id="275" r:id="Re6260b30fe40438b"/>
    <p:sldId xmlns:r="http://schemas.openxmlformats.org/officeDocument/2006/relationships" id="276" r:id="R6d975fa8db5440b8"/>
    <p:sldId xmlns:r="http://schemas.openxmlformats.org/officeDocument/2006/relationships" id="277" r:id="Rf6c2ca08300a44e4"/>
    <p:sldId xmlns:r="http://schemas.openxmlformats.org/officeDocument/2006/relationships" id="278" r:id="R3f8e3356000d4a2b"/>
    <p:sldId xmlns:r="http://schemas.openxmlformats.org/officeDocument/2006/relationships" id="279" r:id="R21f9b0c8708142d7"/>
    <p:sldId xmlns:r="http://schemas.openxmlformats.org/officeDocument/2006/relationships" id="280" r:id="Rad6df3c257654e22"/>
    <p:sldId xmlns:r="http://schemas.openxmlformats.org/officeDocument/2006/relationships" id="281" r:id="R65b9787733fb4808"/>
    <p:sldId xmlns:r="http://schemas.openxmlformats.org/officeDocument/2006/relationships" id="282" r:id="R1cb37643bffa4c99"/>
    <p:sldId xmlns:r="http://schemas.openxmlformats.org/officeDocument/2006/relationships" id="283" r:id="R9c5142b19b154604"/>
    <p:sldId xmlns:r="http://schemas.openxmlformats.org/officeDocument/2006/relationships" id="284" r:id="R042bb76a20fe42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572f77e1df4863" /><Relationship Type="http://schemas.openxmlformats.org/officeDocument/2006/relationships/slideMaster" Target="/ppt/slideMasters/slideMaster1.xml" Id="Rdd82c7eb2b0848ee" /><Relationship Type="http://schemas.openxmlformats.org/officeDocument/2006/relationships/notesMaster" Target="/ppt/notesMasters/notesMaster1.xml" Id="R2eceecbab4cb49b4" /><Relationship Type="http://schemas.openxmlformats.org/officeDocument/2006/relationships/presProps" Target="/ppt/presProps.xml" Id="R26d2a2998ca14806" /><Relationship Type="http://schemas.openxmlformats.org/officeDocument/2006/relationships/tableStyles" Target="/ppt/tableStyles.xml" Id="R73463e2df67b4af4" /><Relationship Type="http://schemas.openxmlformats.org/officeDocument/2006/relationships/slide" Target="/ppt/slides/slide1.xml" Id="Red02d3c27a1f43e3" /><Relationship Type="http://schemas.openxmlformats.org/officeDocument/2006/relationships/slide" Target="/ppt/slides/slide2.xml" Id="R0b29872052cd437d" /><Relationship Type="http://schemas.openxmlformats.org/officeDocument/2006/relationships/slide" Target="/ppt/slides/slide3.xml" Id="Rd4fd0751457649b8" /><Relationship Type="http://schemas.openxmlformats.org/officeDocument/2006/relationships/slide" Target="/ppt/slides/slide4.xml" Id="Rf173a8ce6bec40ad" /><Relationship Type="http://schemas.openxmlformats.org/officeDocument/2006/relationships/slide" Target="/ppt/slides/slide5.xml" Id="Ra52e66a68c034715" /><Relationship Type="http://schemas.openxmlformats.org/officeDocument/2006/relationships/slide" Target="/ppt/slides/slide6.xml" Id="Rc0f3923c80e1440f" /><Relationship Type="http://schemas.openxmlformats.org/officeDocument/2006/relationships/slide" Target="/ppt/slides/slide7.xml" Id="R715581e3c1b448ee" /><Relationship Type="http://schemas.openxmlformats.org/officeDocument/2006/relationships/slide" Target="/ppt/slides/slide8.xml" Id="R36b5d6c7e4554f84" /><Relationship Type="http://schemas.openxmlformats.org/officeDocument/2006/relationships/slide" Target="/ppt/slides/slide9.xml" Id="R254a1cd4d47b4482" /><Relationship Type="http://schemas.openxmlformats.org/officeDocument/2006/relationships/slide" Target="/ppt/slides/slide10.xml" Id="Rbf3c7c9ae6df4ccc" /><Relationship Type="http://schemas.openxmlformats.org/officeDocument/2006/relationships/slide" Target="/ppt/slides/slide11.xml" Id="Ra14f19a93de24530" /><Relationship Type="http://schemas.openxmlformats.org/officeDocument/2006/relationships/slide" Target="/ppt/slides/slide12.xml" Id="R8b3594e1dd9449c3" /><Relationship Type="http://schemas.openxmlformats.org/officeDocument/2006/relationships/slide" Target="/ppt/slides/slide13.xml" Id="Rf041d1cce4ee49dc" /><Relationship Type="http://schemas.openxmlformats.org/officeDocument/2006/relationships/slide" Target="/ppt/slides/slide14.xml" Id="R8b2c5300684c42e9" /><Relationship Type="http://schemas.openxmlformats.org/officeDocument/2006/relationships/slide" Target="/ppt/slides/slide15.xml" Id="Re063ec45b97a4d75" /><Relationship Type="http://schemas.openxmlformats.org/officeDocument/2006/relationships/slide" Target="/ppt/slides/slide16.xml" Id="R7cf9821c45dd4b40" /><Relationship Type="http://schemas.openxmlformats.org/officeDocument/2006/relationships/slide" Target="/ppt/slides/slide17.xml" Id="R017f66f667a54b7f" /><Relationship Type="http://schemas.openxmlformats.org/officeDocument/2006/relationships/slide" Target="/ppt/slides/slide18.xml" Id="R37c1739c071e4607" /><Relationship Type="http://schemas.openxmlformats.org/officeDocument/2006/relationships/slide" Target="/ppt/slides/slide19.xml" Id="R4863041441a14102" /><Relationship Type="http://schemas.openxmlformats.org/officeDocument/2006/relationships/slide" Target="/ppt/slides/slide20.xml" Id="Re6260b30fe40438b" /><Relationship Type="http://schemas.openxmlformats.org/officeDocument/2006/relationships/slide" Target="/ppt/slides/slide21.xml" Id="R6d975fa8db5440b8" /><Relationship Type="http://schemas.openxmlformats.org/officeDocument/2006/relationships/slide" Target="/ppt/slides/slide22.xml" Id="Rf6c2ca08300a44e4" /><Relationship Type="http://schemas.openxmlformats.org/officeDocument/2006/relationships/slide" Target="/ppt/slides/slide23.xml" Id="R3f8e3356000d4a2b" /><Relationship Type="http://schemas.openxmlformats.org/officeDocument/2006/relationships/slide" Target="/ppt/slides/slide24.xml" Id="R21f9b0c8708142d7" /><Relationship Type="http://schemas.openxmlformats.org/officeDocument/2006/relationships/slide" Target="/ppt/slides/slide25.xml" Id="Rad6df3c257654e22" /><Relationship Type="http://schemas.openxmlformats.org/officeDocument/2006/relationships/slide" Target="/ppt/slides/slide26.xml" Id="R65b9787733fb4808" /><Relationship Type="http://schemas.openxmlformats.org/officeDocument/2006/relationships/slide" Target="/ppt/slides/slide27.xml" Id="R1cb37643bffa4c99" /><Relationship Type="http://schemas.openxmlformats.org/officeDocument/2006/relationships/slide" Target="/ppt/slides/slide28.xml" Id="R9c5142b19b154604" /><Relationship Type="http://schemas.openxmlformats.org/officeDocument/2006/relationships/slide" Target="/ppt/slides/slide29.xml" Id="R042bb76a20fe42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497758dc0e4a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f792c104bc44a9" /><Relationship Type="http://schemas.openxmlformats.org/officeDocument/2006/relationships/notesMaster" Target="/ppt/notesMasters/notesMaster1.xml" Id="Reb23591ea4d941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0e47f88d6a476e" /><Relationship Type="http://schemas.openxmlformats.org/officeDocument/2006/relationships/notesMaster" Target="/ppt/notesMasters/notesMaster1.xml" Id="R31505f99a22e47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b9b9e34b12433f" /><Relationship Type="http://schemas.openxmlformats.org/officeDocument/2006/relationships/notesMaster" Target="/ppt/notesMasters/notesMaster1.xml" Id="R588f0186f01242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4138c9d02c4bb1" /><Relationship Type="http://schemas.openxmlformats.org/officeDocument/2006/relationships/notesMaster" Target="/ppt/notesMasters/notesMaster1.xml" Id="R80eeb468cb6140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c4a627e35e491a" /><Relationship Type="http://schemas.openxmlformats.org/officeDocument/2006/relationships/notesMaster" Target="/ppt/notesMasters/notesMaster1.xml" Id="R7842d43cd8c648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d94e12a0c7407f" /><Relationship Type="http://schemas.openxmlformats.org/officeDocument/2006/relationships/notesMaster" Target="/ppt/notesMasters/notesMaster1.xml" Id="Rac58396539e64c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43fcd4b8314474" /><Relationship Type="http://schemas.openxmlformats.org/officeDocument/2006/relationships/notesMaster" Target="/ppt/notesMasters/notesMaster1.xml" Id="R905df8cbe12b42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33e626c23444d6" /><Relationship Type="http://schemas.openxmlformats.org/officeDocument/2006/relationships/notesMaster" Target="/ppt/notesMasters/notesMaster1.xml" Id="R4f5a3a31b1c743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8ab5efd5594494" /><Relationship Type="http://schemas.openxmlformats.org/officeDocument/2006/relationships/notesMaster" Target="/ppt/notesMasters/notesMaster1.xml" Id="R3ec79f2e588346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ed0811e1974c4f" /><Relationship Type="http://schemas.openxmlformats.org/officeDocument/2006/relationships/notesMaster" Target="/ppt/notesMasters/notesMaster1.xml" Id="Rc6a75d3a3cbe41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c76193e6d74199" /><Relationship Type="http://schemas.openxmlformats.org/officeDocument/2006/relationships/notesMaster" Target="/ppt/notesMasters/notesMaster1.xml" Id="R76804b4448804a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bab14768c944b7" /><Relationship Type="http://schemas.openxmlformats.org/officeDocument/2006/relationships/notesMaster" Target="/ppt/notesMasters/notesMaster1.xml" Id="R667157cf05fa4f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24d2fe1519428f" /><Relationship Type="http://schemas.openxmlformats.org/officeDocument/2006/relationships/notesMaster" Target="/ppt/notesMasters/notesMaster1.xml" Id="R805bfe3728d042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e2a8162f814199" /><Relationship Type="http://schemas.openxmlformats.org/officeDocument/2006/relationships/notesMaster" Target="/ppt/notesMasters/notesMaster1.xml" Id="R5d73a8af40434d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d5a3a654714e1f" /><Relationship Type="http://schemas.openxmlformats.org/officeDocument/2006/relationships/notesMaster" Target="/ppt/notesMasters/notesMaster1.xml" Id="R238ea8c9369749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d218303a134d93" /><Relationship Type="http://schemas.openxmlformats.org/officeDocument/2006/relationships/notesMaster" Target="/ppt/notesMasters/notesMaster1.xml" Id="Re2f877edae6347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6a9d98708841f3" /><Relationship Type="http://schemas.openxmlformats.org/officeDocument/2006/relationships/notesMaster" Target="/ppt/notesMasters/notesMaster1.xml" Id="Ra9a91b5a659e41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271c34344e4b8a" /><Relationship Type="http://schemas.openxmlformats.org/officeDocument/2006/relationships/notesMaster" Target="/ppt/notesMasters/notesMaster1.xml" Id="Rf5e44d82a20244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04ccf4a8db4228" /><Relationship Type="http://schemas.openxmlformats.org/officeDocument/2006/relationships/notesMaster" Target="/ppt/notesMasters/notesMaster1.xml" Id="R7dc19c6550844e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fffd8c5bb540fc" /><Relationship Type="http://schemas.openxmlformats.org/officeDocument/2006/relationships/notesMaster" Target="/ppt/notesMasters/notesMaster1.xml" Id="R549933fd5771416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a4c823a6ce4f0f" /><Relationship Type="http://schemas.openxmlformats.org/officeDocument/2006/relationships/notesMaster" Target="/ppt/notesMasters/notesMaster1.xml" Id="R1d89ab415c78416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e9929ecc874ac9" /><Relationship Type="http://schemas.openxmlformats.org/officeDocument/2006/relationships/notesMaster" Target="/ppt/notesMasters/notesMaster1.xml" Id="Rce5bbfde439e4af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b1a416d41124931" /><Relationship Type="http://schemas.openxmlformats.org/officeDocument/2006/relationships/notesMaster" Target="/ppt/notesMasters/notesMaster1.xml" Id="Rbadcaaf2d13444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195a8c34be4609" /><Relationship Type="http://schemas.openxmlformats.org/officeDocument/2006/relationships/notesMaster" Target="/ppt/notesMasters/notesMaster1.xml" Id="Rf27c825e042c4b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f9a592b6e994150" /><Relationship Type="http://schemas.openxmlformats.org/officeDocument/2006/relationships/notesMaster" Target="/ppt/notesMasters/notesMaster1.xml" Id="R73edceb7bc5d411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91f4643b949436d" /><Relationship Type="http://schemas.openxmlformats.org/officeDocument/2006/relationships/notesMaster" Target="/ppt/notesMasters/notesMaster1.xml" Id="R5f5c0d898b9e47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450cb14b53b462d" /><Relationship Type="http://schemas.openxmlformats.org/officeDocument/2006/relationships/notesMaster" Target="/ppt/notesMasters/notesMaster1.xml" Id="Rcca9057e0efc4ab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737cc275dd44c3b" /><Relationship Type="http://schemas.openxmlformats.org/officeDocument/2006/relationships/notesMaster" Target="/ppt/notesMasters/notesMaster1.xml" Id="Rcd630c2a81ad408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337a80f19ad44da" /><Relationship Type="http://schemas.openxmlformats.org/officeDocument/2006/relationships/notesMaster" Target="/ppt/notesMasters/notesMaster1.xml" Id="Rede2c9a6113046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docs/contract-billing-business-rules.md; docs/contract-billing-financial-spec.md; docs/contract-lifecycle-prototype.md. Sources: docs/progress-invoices-prototype.md; docs/contract-invoices-prototype.md; docs/contract-billing-business-rules.md. Sources: docs/change-orders-requirements.md; docs/contract-billing-business-rules.md. Sources: docs/retainage-prototype.md; docs/contract-billing-business-rules.md. Sources: docs/payment-schedule-prototype.md; docs/contract-billing-business-rules.md. Source: docs/quickbooks-online-sync-requirements.md.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docs/contract-billing-business-rules.md; docs/contract-billing-financial-spec.md; docs/contract-lifecycle-prototype.md. Sources: docs/payment-schedule-prototype.md; docs/contract-billing-business-rules.md. Source: docs/quickbooks-online-sync-requirements.md.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docs/contract-billing-business-rules.md; docs/contract-billing-financial-spec.md; docs/contract-lifecycle-prototype.md.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docs/contract-billing-business-rules.md; docs/contract-billing-financial-spec.md; docs/contract-lifecycle-prototype.md.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docs/contract-billing-business-rules.md; docs/contract-billing-financial-spec.md; docs/contract-lifecycle-prototype.md. Sources: docs/change-orders-requirements.md;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docs/progress-invoices-prototype.md; docs/contract-invoices-prototype.md; docs/contract-billing-business-rules.md. Source: docs/contract-billing-business-rules.md, Standard Invoice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docs/progress-invoices-prototype.md; docs/contract-invoices-prototype.md;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docs/progress-invoices-prototype.md; docs/contract-invoices-prototype.md;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docs/contract-billing-business-rules.md; docs/contract-billing-financial-spec.md; docs/contract-lifecycle-prototype.md.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docs/progress-invoices-prototype.md; docs/contract-invoices-prototype.md;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docs/progress-invoices-prototype.md; docs/contract-invoices-prototype.md;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docs/change-orders-requirements.md;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docs/change-orders-requirements.md;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docs/change-orders-requirements.md;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docs/retainage-prototype.md;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docs/retainage-prototype.md;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docs/payment-schedule-prototype.md;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docs/payment-schedule-prototype.md;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docs/progress-invoices-prototype.md; docs/contract-invoices-prototype.md; docs/contract-billing-business-rules.md. Sources: docs/change-orders-requirements.md;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docs/retainage-prototype.md; docs/contract-billing-business-rules.md. Sources: docs/payment-schedule-prototype.md;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docs/quickbooks-online-sync-requirements.md.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docs/quickbooks-online-sync-requirements.md.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docs/quickbooks-online-sync-requirements.md.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docs/quickbooks-online-sync-requirements.md.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docs/progress-invoices-prototype.md; docs/contract-invoices-prototype.md; docs/contract-billing-business-rules.md. Sources: docs/change-orders-requirements.md; docs/contract-billing-business-rules.md. Sources: docs/retainage-prototype.md;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docs/progress-invoices-prototype.md; docs/contract-invoices-prototype.md; docs/contract-billing-business-rules.md. Sources: docs/change-orders-requirements.md; docs/contract-billing-business-rules.md. Sources: docs/retainage-prototype.md; docs/contract-billing-business-rules.md.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docs/contract-billing-business-rules.md; docs/contract-billing-financial-spec.md; docs/contract-lifecycle-prototype.md. Source: docs/quickbooks-online-sync-requirements.md.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docs/quickbooks-online-sync-requirements.md.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docs/contract-billing-business-rules.md; docs/contract-billing-financial-spec.md; docs/contract-lifecycle-prototype.md. Sources: docs/progress-invoices-prototype.md; docs/contract-invoices-prototype.md; docs/contract-billing-business-rules.md. Sources: docs/change-orders-requirements.md; docs/contract-billing-business-rules.md. Sources: docs/retainage-prototype.md; docs/contract-billing-business-rules.md. Sources: docs/payment-schedule-prototype.md; docs/contract-billing-business-rules.md. Source: docs/quickbooks-online-sync-requirements.md.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c462dacc446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adbf996c91478e" /><Relationship Type="http://schemas.openxmlformats.org/officeDocument/2006/relationships/slideLayout" Target="/ppt/slideLayouts/slideLayout1.xml" Id="Rdf58b198646e44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58b198646e44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ee6a57bfb42ad" /><Relationship Type="http://schemas.openxmlformats.org/officeDocument/2006/relationships/notesSlide" Target="/ppt/notesSlides/notesSlide1.xml" Id="Rb9eb823c914544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10d2aa559423c" /><Relationship Type="http://schemas.openxmlformats.org/officeDocument/2006/relationships/notesSlide" Target="/ppt/notesSlides/notesSlide2.xml" Id="Rf13b9bf2fdca43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fcfd7d1304673" /><Relationship Type="http://schemas.openxmlformats.org/officeDocument/2006/relationships/notesSlide" Target="/ppt/notesSlides/notesSlide3.xml" Id="R592842dbbc7a44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1aa8c818f40f5" /><Relationship Type="http://schemas.openxmlformats.org/officeDocument/2006/relationships/notesSlide" Target="/ppt/notesSlides/notesSlide4.xml" Id="R06f12817046143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edc126ebe4df9" /><Relationship Type="http://schemas.openxmlformats.org/officeDocument/2006/relationships/notesSlide" Target="/ppt/notesSlides/notesSlide5.xml" Id="R51b7745df8f64b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55cee74bd4979" /><Relationship Type="http://schemas.openxmlformats.org/officeDocument/2006/relationships/notesSlide" Target="/ppt/notesSlides/notesSlide6.xml" Id="R7796d22caf6d4c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bad29e331449b" /><Relationship Type="http://schemas.openxmlformats.org/officeDocument/2006/relationships/notesSlide" Target="/ppt/notesSlides/notesSlide7.xml" Id="R5c93b38b2c9c4f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dd1a6040f4895" /><Relationship Type="http://schemas.openxmlformats.org/officeDocument/2006/relationships/notesSlide" Target="/ppt/notesSlides/notesSlide8.xml" Id="Rb010ac93c3054e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4e75dbc554615" /><Relationship Type="http://schemas.openxmlformats.org/officeDocument/2006/relationships/notesSlide" Target="/ppt/notesSlides/notesSlide9.xml" Id="R0bfd9ddcc4c84f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206074a6e430c" /><Relationship Type="http://schemas.openxmlformats.org/officeDocument/2006/relationships/notesSlide" Target="/ppt/notesSlides/notesSlide10.xml" Id="Rb83519d094b348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830ffe9ff436f" /><Relationship Type="http://schemas.openxmlformats.org/officeDocument/2006/relationships/notesSlide" Target="/ppt/notesSlides/notesSlide11.xml" Id="R004c579658224b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6d3adbc6943b6" /><Relationship Type="http://schemas.openxmlformats.org/officeDocument/2006/relationships/notesSlide" Target="/ppt/notesSlides/notesSlide12.xml" Id="Rd3962fdf90b840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2ae4e930540fc" /><Relationship Type="http://schemas.openxmlformats.org/officeDocument/2006/relationships/notesSlide" Target="/ppt/notesSlides/notesSlide13.xml" Id="R64780d0f116143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48bbe1bdf48a4" /><Relationship Type="http://schemas.openxmlformats.org/officeDocument/2006/relationships/notesSlide" Target="/ppt/notesSlides/notesSlide14.xml" Id="R76ffe6d53de74c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24d5cad59479a" /><Relationship Type="http://schemas.openxmlformats.org/officeDocument/2006/relationships/notesSlide" Target="/ppt/notesSlides/notesSlide15.xml" Id="Rf128ab9083e34b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b9191a9704a69" /><Relationship Type="http://schemas.openxmlformats.org/officeDocument/2006/relationships/notesSlide" Target="/ppt/notesSlides/notesSlide16.xml" Id="Re68b10b3ce12497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d45cce31b445b" /><Relationship Type="http://schemas.openxmlformats.org/officeDocument/2006/relationships/notesSlide" Target="/ppt/notesSlides/notesSlide17.xml" Id="R265c51563f5d4b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11917edd34570" /><Relationship Type="http://schemas.openxmlformats.org/officeDocument/2006/relationships/notesSlide" Target="/ppt/notesSlides/notesSlide18.xml" Id="R767e2e6c541949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a60180af84ccf" /><Relationship Type="http://schemas.openxmlformats.org/officeDocument/2006/relationships/notesSlide" Target="/ppt/notesSlides/notesSlide19.xml" Id="Rd62a4759470f472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83fb691d74a95" /><Relationship Type="http://schemas.openxmlformats.org/officeDocument/2006/relationships/notesSlide" Target="/ppt/notesSlides/notesSlide20.xml" Id="Re1cc4f056d8346d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9d2b0bff7400c" /><Relationship Type="http://schemas.openxmlformats.org/officeDocument/2006/relationships/notesSlide" Target="/ppt/notesSlides/notesSlide21.xml" Id="Rf5bcca30eaae44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70bf92dda46e8" /><Relationship Type="http://schemas.openxmlformats.org/officeDocument/2006/relationships/notesSlide" Target="/ppt/notesSlides/notesSlide22.xml" Id="Rfa2cc47ecccf4f2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9008f662d41e0" /><Relationship Type="http://schemas.openxmlformats.org/officeDocument/2006/relationships/notesSlide" Target="/ppt/notesSlides/notesSlide23.xml" Id="R255d6387a747440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4d80202504585" /><Relationship Type="http://schemas.openxmlformats.org/officeDocument/2006/relationships/notesSlide" Target="/ppt/notesSlides/notesSlide24.xml" Id="R36223561c493425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05378101e4939" /><Relationship Type="http://schemas.openxmlformats.org/officeDocument/2006/relationships/notesSlide" Target="/ppt/notesSlides/notesSlide25.xml" Id="R769df0f1301549d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0d0e45e4e42fa" /><Relationship Type="http://schemas.openxmlformats.org/officeDocument/2006/relationships/notesSlide" Target="/ppt/notesSlides/notesSlide26.xml" Id="Rf7a3d0bcf421496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00e68d520422e" /><Relationship Type="http://schemas.openxmlformats.org/officeDocument/2006/relationships/notesSlide" Target="/ppt/notesSlides/notesSlide27.xml" Id="R7e8c3fc421234e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e91ba8c6d465c" /><Relationship Type="http://schemas.openxmlformats.org/officeDocument/2006/relationships/notesSlide" Target="/ppt/notesSlides/notesSlide28.xml" Id="R252837d7f0f94e0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f645641264ee7" /><Relationship Type="http://schemas.openxmlformats.org/officeDocument/2006/relationships/notesSlide" Target="/ppt/notesSlides/notesSlide29.xml" Id="R712b269f89d441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B2FA2-6B17-4363-83DD-F7383478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B1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91B1FF"/>
                </a:solidFill>
                <a:latin typeface="Segoe UI"/>
                <a:ea typeface="Segoe UI"/>
                <a:cs typeface="Segoe UI"/>
              </a:rPr>
              <a:t>DEV HANDOFF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8C2F5-E64C-422E-BF1C-7FB06BE1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14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Contract billing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business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00524-A048-4F29-A002-A903B097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Standard Invoice, Progress Invoice, Change Orders, Retainage, Payment Schedule, and QuickBooks Online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892D6-1747-4075-9B80-FF9A2AEE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1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1430D-180F-4998-90BA-712255DE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Canonical handoff  / 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9BBEE-E92F-4A4F-98BE-A5A8BCF7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0C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DB0C1"/>
                </a:solidFill>
                <a:latin typeface="Segoe UI"/>
                <a:ea typeface="Segoe UI"/>
                <a:cs typeface="Segoe UI"/>
              </a:rPr>
              <a:t>Business rules for product, design, engineering, QA, and AI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C7638-4BF2-4FBF-817A-EDA4AC16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5D4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B7C5D4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66DFE-77C9-4631-9437-7BA5B747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C5D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7C5D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4310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12053-82B2-49CF-9902-4C6CE536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7530A-30BE-45D9-A4BE-99CD3526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System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85157-3A91-4418-A6B5-DA5F770F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AC5C1-D347-41A9-95A2-7C01AA90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EB1F0-A29F-4157-8706-6096EADF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4456C-076A-4928-BB1E-B4C35AC2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One contract model supports tracked billing from Estimate acceptance onward.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98D4E-E723-464C-ADDF-7AB87BA5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Standard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4D205-0B0E-49B3-B983-C1FD9D05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Copies an Estimate into an independently editable Invoice.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49D6B-3500-4691-9C82-1C60C014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08A0E-38FD-40D8-8726-167C24E7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Progress Invoice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E4D47-DF2E-4867-96BA-3226A93C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Bills accepted Contract scope and tracks completion.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EF373-7035-43BB-BF95-0533904D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C2242-38CA-48E8-B019-5E608071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Change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EB93B-16E7-4953-8C9E-8016D0A5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Revises the current Contract while preserving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4A37E-5B3D-494D-BDE4-B2D9500A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Retainage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77EA0-53EE-4C35-B1BF-C52A30C4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90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Withholds part of an Invoice and releases it later.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61E4E-887A-4E06-93EE-BC9936D6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C314C-758D-4C9D-9E99-A8195A51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Payment Schedule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F81D6-5D97-4E83-8344-26E57EA2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Plans milestones without creating or reserving scope.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7211E-2F30-455C-AAEF-DDC77C3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1819CA-76D4-4E58-ADF0-436B5ACC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QuickBooks Online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D8B18-74B6-4FAD-9FCE-8DF9AE4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00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Receives accounting documents, not Contract logic.</a:t>
            </a:r>
          </a:p>
        </p:txBody>
      </p:sp>
    </p:spTree>
    <p:extLst>
      <p:ext uri="{BB962C8B-B14F-4D97-AF65-F5344CB8AC3E}">
        <p14:creationId xmlns:p14="http://schemas.microsoft.com/office/powerpoint/2010/main" val="1246419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96947F-B55F-424C-A9A1-31E29A6E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SHARED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2804E-8FB0-443D-9229-10B0E000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Canonical Contract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DC952-449D-44FD-A850-0FAA57CD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29BA3-E246-4179-A500-A0B2C9A9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A7F77-93BE-4AA9-888E-690255F0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279CB-F48D-42EE-9E9B-D2574897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An Accepted Estimate establishes the Contract. Accepted Change Orders revise the same Contract.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32A21-76AF-4D9D-908D-1D2848BC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476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2F6FE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1BE30-662B-4C9B-A7BD-058637B1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Accepted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30CA4-2D7F-4F98-AD74-F99FB995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42638"/>
          </a:solidFill>
          <a:ln xmlns:a="http://schemas.openxmlformats.org/drawingml/2006/main" w="9525">
            <a:solidFill>
              <a:srgbClr val="14263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85DCF-C0ED-4019-A669-471CA13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77D0D-475E-4E48-80BE-6C5D6CBD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146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Accepted source scope</a:t>
            </a:r>
          </a:p>
          <a:p xmlns:a="http://schemas.openxmlformats.org/drawingml/2006/main">
            <a:pPr algn="ctr">
              <a:defRPr sz="1275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Billing history</a:t>
            </a:r>
          </a:p>
          <a:p xmlns:a="http://schemas.openxmlformats.org/drawingml/2006/main">
            <a:pPr algn="ctr">
              <a:defRPr sz="1275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Contract-level pools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EBE05-B5CF-4E5F-920E-AB72DC18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9525">
            <a:solidFill>
              <a:srgbClr val="D476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862B6-7009-4053-A70E-912B69D7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Accepted COs</a:t>
            </a:r>
          </a:p>
        </p:txBody>
      </p: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76600" y="3000375"/>
            <a:ext cx="15811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6FED"/>
            </a:solidFill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12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7715250" y="3000375"/>
            <a:ext cx="15811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4762C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54E0F-B26A-4594-8513-B7882239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495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D0504-C2CB-4C94-A8D1-4EEC76AD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Before any Accepted CO: Contract equals Accepted Estimate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10DF8-AB1C-4434-9DCF-D5E7F965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495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5ADDE-3644-433A-9530-01B4402E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After acceptance: each CO revises the existing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BDE89-0E27-4C79-BA0C-F228DDF6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No ledger reset. No history migration. No Estimate-to-CO item mapping.</a:t>
            </a:r>
          </a:p>
        </p:txBody>
      </p:sp>
    </p:spTree>
    <p:extLst>
      <p:ext uri="{BB962C8B-B14F-4D97-AF65-F5344CB8AC3E}">
        <p14:creationId xmlns:p14="http://schemas.microsoft.com/office/powerpoint/2010/main" val="649537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2C79A-817A-4660-B358-44999CA7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SHARED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09535-9B59-42A0-AD04-5E3C8C52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Shared financial measures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96BC2-5110-4556-A39D-29A7997E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5FEFD-D60E-49F2-8AF5-A931E737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08CCD-1627-4655-B9DD-155FC14D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5305425"/>
                <a:gridCol w="3429000"/>
              </a:tblGrid>
              <a:tr h="58510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Measure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Business meaning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Includes / excludes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Contract subtotal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Aggregate accepted pre-discount source scope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Estimate plus Accepted CO changes and Cost Plus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Contract Value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Current accepted economic value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Contract subtotal less accepted Contract discount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Previously invoiced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Posted tracked billing before the current Invoice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Draft reservations excluded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Remaining subtotal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Gross Contract scope still available in creation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Posted allocations and active Draft reservations excluded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Contract Progress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Posted gross scope divided by current gross scope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Discount, tax, retainage, and payments excluded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Discount Pool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Contract discount still available to apply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Kept separate from Remaining subtotal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A4468-734E-44DD-BE07-099AA63F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Remaining subtotal answers how much underlying scope remains. The Discount Pool answers how much discount remains.</a:t>
            </a:r>
          </a:p>
        </p:txBody>
      </p:sp>
    </p:spTree>
    <p:extLst>
      <p:ext uri="{BB962C8B-B14F-4D97-AF65-F5344CB8AC3E}">
        <p14:creationId xmlns:p14="http://schemas.microsoft.com/office/powerpoint/2010/main" val="1705383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BB3E1-4B96-4D2A-9B8E-89B5A8FA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SHARED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8B9B4-CC66-4B4A-81E2-FCE86F68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Contract billing and document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0E67B-B64B-4315-99C8-CCB83966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F9E3A-5AEC-4DF4-8BF5-09F31400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C713D-3533-4045-A896-89494C38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FEFD0-38B9-455C-B17F-CC56102A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Billing status belongs to the current Contract.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3C542-AC72-44D4-94AD-561C4643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184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5F749-A9D6-402B-94A2-5375083A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917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Accepted</a:t>
            </a:r>
          </a:p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No posted tracked billing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A1EA8-8E43-41AD-88C4-CADD20C7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650" y="2190750"/>
            <a:ext cx="2184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F4E95-A3D3-4775-8FCA-32F4604D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2305050"/>
            <a:ext cx="1917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Partially Billed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Posted billing and scope remains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91BB6-D656-46EE-B392-1A2A85B3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2190750"/>
            <a:ext cx="2184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2C241-459E-49D7-AF97-24296C2A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050" y="2305050"/>
            <a:ext cx="1917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Billed</a:t>
            </a:r>
          </a:p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Posted billing and no scope remains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94000" y="27241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26050" y="27241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09B73-EE3F-4390-B010-99D5A786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A positive Accepted CO can move a Billed Contract back to Partially Billed.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A2D10-E492-4E14-9A7C-C2EAF278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4950"/>
            <a:ext cx="3352800" cy="4114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F1930-4ECB-4ABE-8D12-9CEE1939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71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Change Order lifecycle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DB614-7335-43AB-A287-9F2A4E7C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F9362-C576-428F-99C2-DC0595A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247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3B70E-BD93-4467-80BC-C7E5D903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9AD2F-EE91-450F-9063-78D2E8B9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28925"/>
            <a:ext cx="2247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Pending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6FE6C-54D6-43E9-86FB-3F302BA0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97296-BC2A-4A90-93D0-7A8BCC9C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2247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Accepted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F924B-9A9D-4A74-A0D5-6417DA18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CC790-204E-41EB-A7D6-AC8D205C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00475"/>
            <a:ext cx="2247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Declined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45AC22-E18F-497C-A2E8-D446012D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38199E-E9D4-4B5B-9B47-A552CF33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0"/>
            <a:ext cx="2247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Canceled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263AF9-D36B-42E8-BFCE-2E176D75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149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Acceptance remains a fact even when a surface shows the Contract billing status.</a:t>
            </a:r>
          </a:p>
        </p:txBody>
      </p:sp>
    </p:spTree>
    <p:extLst>
      <p:ext uri="{BB962C8B-B14F-4D97-AF65-F5344CB8AC3E}">
        <p14:creationId xmlns:p14="http://schemas.microsoft.com/office/powerpoint/2010/main" val="484201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F8546-04EF-4B12-A765-A56479D4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HAPPY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3662E-8A5D-49A6-9768-3A2830B0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Standard Invoice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171E2-F4A9-40A5-AFBB-B36A55F6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7DCFD-B6D5-4195-9693-DA34BD16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B6A06-99E5-49DC-B798-F8B705BB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D5CE5-1173-4178-9A94-9BCDADE8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Simple copy and conversion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9F06D-7A6D-4C0F-BEEB-142AE664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500313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16E12-9AD4-472D-AF03-259598C9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2336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E4FAF-3A6C-437F-9DBB-7A9EE571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266950"/>
            <a:ext cx="2500313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79107-D21E-481B-81A7-FFA2A0B2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381250"/>
            <a:ext cx="22336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Copy to Invoice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6D7D9-93D8-4162-BC52-C667E628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66950"/>
            <a:ext cx="2500313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9500D-3BB9-4CC8-82F3-E9282F73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336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Editable Standard Invoice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46231-7D8F-4377-B5ED-2408E836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266950"/>
            <a:ext cx="2500313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4D1AF-3327-4815-9DB9-18BEFA0B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381250"/>
            <a:ext cx="223361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Estimate Billed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09913" y="26955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34076" y="2695575"/>
            <a:ext cx="3238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58238" y="26955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A000C-830A-4BDC-B4BB-502BBB51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Uses existing Standard Invoice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1D38F-CA69-4974-839B-C0F83A2B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DC32E-012D-4E57-8778-5233330C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Copied lines can change under existing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9F930-E7DD-429D-8FDA-3B85A812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7A60D-9082-4330-99F9-2536E1A6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Saving the Draft creates the conversion 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738BD3-E38B-4173-B9C3-B202C7C4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883122-1112-4F9C-A03C-3B3428EF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Deleting or canceling removes that lock when allowed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494DB-1C93-4C6F-BDC0-13544E5B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Separate from tracked Progress billing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43CAF1-FE3B-4EB6-A523-7E3E1234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4E4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35B53-107C-44A1-A416-9835CF40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No Contract Progress allocation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D51A48-87CA-475A-ADE7-5D82D733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4E4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CB12B6-5A9A-4188-97A4-D110F22E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No source-line Progress ledger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C1C347-862E-4DED-BB98-019778F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4E4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5BAE8E-EDF0-4F14-BE39-DE63AA68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No milestone or Retainage Release behavior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57B999-D811-4EB9-906F-8D42F53E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4FD4C8-7B59-4D2B-A843-1201AC1C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One active Standard Invoice per Estimate; unavailable after tracked Progress history — enforce across creation, linking, API, import, and automation.</a:t>
            </a:r>
          </a:p>
        </p:txBody>
      </p:sp>
    </p:spTree>
    <p:extLst>
      <p:ext uri="{BB962C8B-B14F-4D97-AF65-F5344CB8AC3E}">
        <p14:creationId xmlns:p14="http://schemas.microsoft.com/office/powerpoint/2010/main" val="653929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425024-C383-4C2B-AC25-F3E7071A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HAPPY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E97A2-D116-4CE4-A859-D4B40F9C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Progress Invoice happy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9F751-E9B6-44F1-99CE-D337B347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52637-8852-45DC-87A9-F77BD3C8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9865B-43A3-488D-BBAB-CFE05BA5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E2F4A-2E04-4F8F-81F7-914EB7B5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01168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0C65B-FAB0-4881-ABF0-8F8D98AB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4498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Accepted Estimate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B8227-0321-4C13-8146-E6D24C03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1866900"/>
            <a:ext cx="201168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9A75F-7573-4E1D-BD56-357EB1A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1981200"/>
            <a:ext cx="174498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6816F-1983-471D-81CA-585A3AB7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1866900"/>
            <a:ext cx="201168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1628E-3D9B-4144-8F29-3EB0F73F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1981200"/>
            <a:ext cx="174498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Progress Invoice Draft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CC681-5DBD-463C-A336-FEDAD4D5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1866900"/>
            <a:ext cx="201168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09D9A-7C01-459F-A432-2D39E998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1981200"/>
            <a:ext cx="174498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Open Invoice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61E9E-6D6B-4A4A-B9DA-CBEF11FF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1866900"/>
            <a:ext cx="201168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2D4D3-1CEF-4079-B699-0DB6E2B3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1981200"/>
            <a:ext cx="174498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Contract state updated</a:t>
            </a:r>
          </a:p>
        </p:txBody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21280" y="22955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61560" y="22955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01840" y="22955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42120" y="22955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84E44-27E7-44C1-B917-A6C02494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5AEDA-F5CB-43BF-82AB-92334E75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C208F-6764-4C44-80AC-4814BE3B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Reserves selected source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543C7-CBFC-48FA-83FD-76C88535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2556B-F362-4C1A-85D2-979A93C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Reserves selected discount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B6883-71F6-4DB7-9A3C-838FF702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D0A1A-E764-43F2-8EA3-DA9B9F1E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Does not increase posted progress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AA15D-7ACF-4D87-A70E-7BCA9ECB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52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F7A52"/>
                </a:solidFill>
                <a:latin typeface="Segoe UI"/>
                <a:ea typeface="Segoe UI"/>
                <a:cs typeface="Segoe UI"/>
              </a:rPr>
              <a:t>Open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1539A0-EB8B-439A-B26A-E32CC482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7F1F54-1BB6-4597-9AA8-9F21F498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Consumes the reservation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E9AAC3-8524-4FA8-8BD2-36744D1F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0EACF0-9300-4F7F-BFD5-67BA909B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Updates Previously invoiced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7702A-A7E3-48AA-A7D8-57C9E4B0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38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4E3EE4-CB04-4885-9802-300F4BE1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815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Updates Remaining subtotal and billing state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0C31FE-BBB6-4F0C-8A6A-50566F76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F0148E-426E-48F2-A014-0E831FAC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Progress always belongs to the Contract, including the first Invoice before any CO exists.</a:t>
            </a:r>
          </a:p>
        </p:txBody>
      </p:sp>
    </p:spTree>
    <p:extLst>
      <p:ext uri="{BB962C8B-B14F-4D97-AF65-F5344CB8AC3E}">
        <p14:creationId xmlns:p14="http://schemas.microsoft.com/office/powerpoint/2010/main" val="5584036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4B719-9816-4F3F-B1E5-AAB851F7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PROGRESS INVOICE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1BC63-D12B-4A19-80D4-2D1AD1C0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Progress Invoice creation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2C5E7-38EA-441B-9A4F-EE64C15D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F4448-3191-420B-8BA9-3848AE6A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1F05C-623A-4493-9B22-A0257443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99330-A4C7-4595-8E1F-2AEFB3AE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Supported paths use the same Contract availability rules.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92619-A0C2-49CC-B7E1-0CB14047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526D1-3E51-40BB-89CB-A854A5FB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52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Full remaining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54C78-32D0-4BB5-B259-5B8519CD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Bills all eligible remaining source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0C2A3-F6B5-4609-89C7-650588D5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444C2-D26F-449C-96B4-3B514F17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845A9-FC5F-4ABC-94FF-52832783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Percent or amount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D8A67-F223-4193-9FB0-BA6EACAF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Allocates a portion within Contract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6F5BA-CA9D-47B0-8B2F-3FB5EA39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010E3-6D16-42B2-9A52-35FA0ED3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D6D60-31DF-41D5-BF98-FCC0F9A2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Select source 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099DF-78C6-4403-B040-83332494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Bills selected eligible lines up to their remaining amount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C41AA-F6AD-423C-9BCA-7B7E05C8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C8846-E865-44A7-9624-28D2A718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0C157-69D9-4862-8B64-5D03F06E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Payment milestone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5E698-A874-402D-A94E-B2167756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958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Uses planned context without bypassing availability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64CFF5-2F0B-4CB8-8F24-3AD357C9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8558F-C724-435D-9237-BE744B82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Remaining subtotal = gross Contract scope left after posted allocations and active Draft reservations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EFA49-4562-460F-B39A-45708E12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The Discount Pool remains separate.</a:t>
            </a:r>
          </a:p>
        </p:txBody>
      </p:sp>
    </p:spTree>
    <p:extLst>
      <p:ext uri="{BB962C8B-B14F-4D97-AF65-F5344CB8AC3E}">
        <p14:creationId xmlns:p14="http://schemas.microsoft.com/office/powerpoint/2010/main" val="1891163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A190B-CE61-462A-B7D0-276FB454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PROGRESS INVOICE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4E7F8-0F06-47E6-B554-9C0EB88D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Source-line lineage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55A0D-4042-4D3D-B22A-1450A6FA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FB392-283D-40B3-9EC9-445226A5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6ED39-FD44-49F5-9C43-6C15E912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64106-FDE1-4B76-B2E9-9B5BF29B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The Contract aggregates scope without flattening its origin.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3D003-89F0-4DC5-88DA-E7B20E52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2F6FE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D0694-3EB0-4927-84EA-A9E9C2AF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Estimate #1008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FEA46-37BE-4766-925C-603BCD9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571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Original source lines</a:t>
            </a:r>
          </a:p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Posted allocations stay here</a:t>
            </a:r>
          </a:p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Remaining amount stays traceable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D4046-F23F-4D96-8563-5766420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9900"/>
            <a:ext cx="41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70426-7801-4CDA-BB1D-4C7174B4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9525">
            <a:solidFill>
              <a:srgbClr val="D4762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10EE0-B292-43CC-AD69-3F3A9B00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33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CO #1008-CO1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AF685-CC2E-4DF5-8EA6-0696A211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571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Added or removed scope</a:t>
            </a:r>
          </a:p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Independent source identity</a:t>
            </a:r>
          </a:p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No forced mapping to Estimate 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67F63-DAE6-4EE1-B676-3BB13167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09900"/>
            <a:ext cx="41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D2CD7-0892-48FE-90C5-08D21EC6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638"/>
          </a:solidFill>
          <a:ln xmlns:a="http://schemas.openxmlformats.org/drawingml/2006/main" w="9525">
            <a:solidFill>
              <a:srgbClr val="14263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FD772-7A72-4AEF-89E9-5AB141AC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Contract aggregate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0861A-C935-4083-A8BD-EB78F7D3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Current accepted scope</a:t>
            </a:r>
          </a:p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Overall availability</a:t>
            </a:r>
          </a:p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Contract Progress and pools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C8BA6-FF5C-4A3B-967C-5F82E2D7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Contract revisions never rewrite historical invoice allocation.</a:t>
            </a:r>
          </a:p>
        </p:txBody>
      </p:sp>
    </p:spTree>
    <p:extLst>
      <p:ext uri="{BB962C8B-B14F-4D97-AF65-F5344CB8AC3E}">
        <p14:creationId xmlns:p14="http://schemas.microsoft.com/office/powerpoint/2010/main" val="6488657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5B669-FEB1-435E-AB6C-0C89A220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9E738-C022-463A-8563-73CB0108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Progress Invoice frontend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69BE6-5F93-46C1-83D8-DE5BD65A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4E511-7F7B-4570-8998-60368BA2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1A6C3-EFA2-4D61-9B87-B38814E6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2C968-3081-4311-8509-B4F48250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Creation and editing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4A4D5-4770-4705-93AC-8299CBA4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091DC-C606-4BA2-9760-AF24883E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Use current Contract scope in the creation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F7C00-51CD-4F8C-9E77-37E7D46B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F95A1-EC67-4611-9F8C-8AF20BFE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Show Remaining subtotal before discount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6A9D4-84F8-4536-8CF7-0B51970B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0D4FC-573B-4363-A32A-68E598CA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Keep Discount Pool selection separate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5E05F-DF87-413C-BE18-E05152DE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8C800-73B3-434B-BDAF-A3673A6A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Group Estimate and CO lines when COs exist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2118D-15A0-4FAD-A3ED-DA2167A4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E33F0-33C9-430A-B37F-09FDBFB4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Keep Cost Plus computed and 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26EB4-D6B9-4FC0-99D4-17ED5C0B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State and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DAB5D-6C24-491C-9358-DBD9C80F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9916C-98FD-45BC-8823-4ECD735D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Expose Draft reservation and one-Draft limit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BC213-7393-4779-B5FC-FA2B42DC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C0823-B5E3-4D79-8A0E-46CD424A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Lock prior invoices under existing chronology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D6411-DFA8-4515-974B-625253B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A83CA-D84E-4107-B235-100DE680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Show Contract Progress and billing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7D22B8-D0F3-46B9-82A9-82B1B09B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F8DACE-D632-468E-BD0B-D7822229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Prevent billing beyond Contract and line availability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F7BAF-2E65-4BF2-AA1F-E6073FB0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94EBC1-C525-47D1-BFD4-549C7BA5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Preserve linked history and explicit navigation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57667-7118-4C0A-8D1D-F53B7664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5DE030-00F3-43EF-8AF3-000F5917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Unsaved Invoice states do not show PDF preview or Customer web preview actions.</a:t>
            </a:r>
          </a:p>
        </p:txBody>
      </p:sp>
    </p:spTree>
    <p:extLst>
      <p:ext uri="{BB962C8B-B14F-4D97-AF65-F5344CB8AC3E}">
        <p14:creationId xmlns:p14="http://schemas.microsoft.com/office/powerpoint/2010/main" val="20554663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018EBA-AA08-432B-82D4-552A1A7A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CUSTOMER WEB LINK AND PDF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6519B-08F7-4BA9-8AD6-8521341F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Progress Invoice customer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78A3D-F0F2-4F37-B799-62684A86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9B334-8093-4486-8C45-124A0449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148EC-CA98-46BF-9671-4E74F077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8D55B-2B7C-4F4B-8ABB-66494F05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Web link and PDF carry the same business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0835B-4A9C-4759-B67B-C613441A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Items 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AF09B-3B69-4461-8563-01ACF39D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A8B40-F354-4391-8317-F7748051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Contract Amount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43303-CC64-4AAC-A721-92BC991F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D2191-68B2-40F9-99BF-150F287E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Previously Billed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07002-1D16-4D55-9B6A-FB70F0A2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47796-8DA6-4AAF-9535-9CE9208A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This Invoice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5C410-0586-4646-A282-38FDDF89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BD6E1-8607-4AA9-8966-03C06E3A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Balance to Finish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4605C-B80C-41F7-BCD0-0E4E9183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A22CB-9715-48E8-8748-D36AE50F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Line completion when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FCBE5-A069-4331-9D25-8F0A82C6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Presentation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79A54-4712-463C-939D-C3E66F8C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1F42A-F71C-429D-86E2-4D2B87F4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79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Preserve item descriptions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11543-A16E-4B0D-8B35-3B1F613F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C94E0-5FD0-4239-BDB0-0A60BDED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Emphasize billed rows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52846-3A57-440F-9E25-CC1F8CFD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04EAF-E464-46B1-B02E-58D1894B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Hide or soften unbilled rows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E8ACD-F6A4-423A-91C6-BFD3C95A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DD748-1596-46BD-8620-7C5871EA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Hide fractional quantities where required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2EEF30-411B-4185-942D-BF9AF9F8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EB42A-17C3-46CD-A055-B0F8E08F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291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Exclude internal ledger mechanics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382D7-35E2-4B90-94F0-A895A90C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Cost Plus and totals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D41D9B-B719-4D70-9805-9B230833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C7B8C6-231D-468C-A433-878053F9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479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One aggregate Cost plus fee 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1B2F25-3E52-4593-A6F1-746B9EA2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5BD6CD-21BC-4AD2-9523-140C59EA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Description shows the percentage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97B23D-5BBF-426A-9607-A740BEB9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4279E1-2679-4D3A-A9E1-57F9DA32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Place before subtotal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0DC69D-E1A7-4295-B71C-3DEA687F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7ED50A-33E9-4EC0-B975-CF26F5BD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33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Include fee in subtotal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6F4CDF-6457-40EA-AB13-19B4A558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CB9005-EDB9-4274-B9FF-2D0185E2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291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Do not duplicate it in totals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17DCF1-FF6C-448F-A28D-17C0B3E7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E3F308-743F-401A-8C16-7492880C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Tax, discount, Cost Plus, and retainage appear only when applicable. Zero-value placeholders stay absent.</a:t>
            </a:r>
          </a:p>
        </p:txBody>
      </p:sp>
    </p:spTree>
    <p:extLst>
      <p:ext uri="{BB962C8B-B14F-4D97-AF65-F5344CB8AC3E}">
        <p14:creationId xmlns:p14="http://schemas.microsoft.com/office/powerpoint/2010/main" val="11787489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9E7E5E-AFE6-4675-B979-7B41AEB4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HAPPY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40867-40D0-4D7A-8BEB-5FD489D2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Change Order happy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B4DE5-74B8-45CE-8884-1064721F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A2A15-3E84-440C-8490-247D9142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5EC61-910C-4770-9D17-589F1B67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C4041-8831-4E04-BD26-CAF449A9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BDB31-FE3C-4F4A-8FC6-CD4A50BE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74498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Current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24CC0-4210-418A-BD6E-687AA76C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19050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9D549-530B-4AE7-9D82-F278EA03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019300"/>
            <a:ext cx="174498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CO Draft or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2CEB1-0164-4AC1-B780-8BCC503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19050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25F91-CB47-4C13-8A81-A12417CC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2019300"/>
            <a:ext cx="174498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Accepted 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7D4BA-30F1-41C1-AB14-D8C5A0A3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19050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C4274-3E20-476C-9788-A99CCA68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19300"/>
            <a:ext cx="174498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Contract revised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8E9B7-7CFA-4F0C-AB11-A70C01E4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19050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5B260-A455-4994-9FA8-9C0D4FDC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2019300"/>
            <a:ext cx="174498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Future Progress Invoice</a:t>
            </a:r>
          </a:p>
        </p:txBody>
      </p:sp>
      <p:cxnSp>
        <p:nvCxnSpPr>
          <p:cNvPr id="5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21280" y="23431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61560" y="23431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01840" y="23431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42120" y="23431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1A9C5-22D2-4979-AE4B-1BD3F65C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Acceptance updates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2DEED-C467-4050-92C9-85D9E6AA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3030A-EFF7-47EF-92C7-1670DA2A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Accepted source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8EDF5-2188-474B-81D9-AA386DC2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F12DCF-26A6-46AF-BE08-8F9FE42C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Contract totals and applicable pools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4B285B-DC7D-4017-8A16-CAEBB9B2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22D94-1D1F-4097-A7B7-F1F789A7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Payment Schedule projections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36500-5C79-451B-A648-9DA0B91D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A355A3-8A5C-453B-9D58-89534CAD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Contract billing status when scope reopens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5A131D-D2C7-45CB-8565-50751706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718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Acceptance preserves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065985-141B-4670-BB07-3F1ADFF2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CBC9B5-CAD4-4900-B1D1-49E3DC51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Posted Invoice history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3C5C2E-1553-414E-89CE-64037874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7CF704-EC7C-4C07-AD06-99A2C9FD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Original source allocation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8596FB-1A95-4341-8288-89D51B80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A6C3AC-9590-4EAD-82F9-3E4FE981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Prior Contract Progress history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2A1534-F881-4BD4-9924-6F4387FA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8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6A5AD4-8FA3-45EE-8D4E-2FBDB057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Separate CO approval history</a:t>
            </a:r>
          </a:p>
        </p:txBody>
      </p:sp>
    </p:spTree>
    <p:extLst>
      <p:ext uri="{BB962C8B-B14F-4D97-AF65-F5344CB8AC3E}">
        <p14:creationId xmlns:p14="http://schemas.microsoft.com/office/powerpoint/2010/main" val="13248849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4585F3-21A7-40EA-B83F-09626CBD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CHANGE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7DF48-A00B-4C2E-8318-503C5704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Change Order state and Contract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2814F-9D8C-4CD3-A761-5FA404D6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94B29-6384-4157-8098-A355CEAC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15AAE-C81C-49B0-8323-2574B81F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1EB97-F1DF-4C4D-9FDD-4D425A05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D53D1-0549-4D92-A09A-6A7CEB4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Proposed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01203-D63E-4A96-A81D-E0E4DEEE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19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Editable under existing locks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BD937-3215-4CE0-9C8D-766DBF05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963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9A8A4-C203-4C94-A82B-35417A81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Pending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4347A-71A3-4952-AABE-43BD76A8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Proposed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4D65A-2885-49C3-A8EB-BABEB1C2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Awaiting acceptance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CD61A-860D-4692-A640-4F5D44B2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963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7220C-74C3-42B6-BDBC-841F35F6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Accepted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DE8FA-CD00-4EFF-B49F-3EA97EF4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Included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7A924-28F5-4B24-B937-4D90F1DD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Financially immutable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DFF5B-5F8C-4C52-95AD-33760C03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963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F9DA2-85D6-4344-8F52-493BFB1B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Declined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38215-A3BC-4BB3-9F14-9D993926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48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None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AE5E9-4FCD-4B4B-AD3D-0E3EB85B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481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Historical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CA4A8-212D-4D9A-B24C-7489BF0F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963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B67D4-942D-460E-828D-2685D449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Canceled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CA8B8-68C9-419B-9469-A26D4700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91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None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09BA3-17C7-4EBC-8C5E-13DCFC41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91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Historical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43FAE-0793-4ED4-8297-93DCE773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619250"/>
            <a:ext cx="12192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2A073-4CFE-4FC1-8C81-74E3D417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14600"/>
            <a:ext cx="95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CO</a:t>
            </a:r>
          </a:p>
          <a:p xmlns:a="http://schemas.openxmlformats.org/drawingml/2006/main">
            <a:pPr algn="ctr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approval</a:t>
            </a:r>
          </a:p>
          <a:p xmlns:a="http://schemas.openxmlformats.org/drawingml/2006/main">
            <a:pPr algn="ctr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76B0C2-3B56-4EDE-AF52-7CFCF4D7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93825-8A77-4EB1-BF8B-F83F1A19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Contract billing status can change after CO acceptance. CO lifecycle history remains intact.</a:t>
            </a:r>
          </a:p>
        </p:txBody>
      </p:sp>
    </p:spTree>
    <p:extLst>
      <p:ext uri="{BB962C8B-B14F-4D97-AF65-F5344CB8AC3E}">
        <p14:creationId xmlns:p14="http://schemas.microsoft.com/office/powerpoint/2010/main" val="788050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82CD73-ABD9-4C74-826B-34446526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FRONTEND AND 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1D79B-B901-45F5-9E4C-C186854F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Change Order document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B41CC-BF28-41A6-B186-7A8D1DD7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820E5-F4DD-4239-88CC-B1C74D11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CBE73-28F7-4B9C-9AA6-B068634C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F9988-871D-4B36-95B6-2B24E35F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Internal document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41C6A-5E3D-45F3-92C4-7695CD05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A3FAE-9C6C-4201-9964-4EECC916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Estimate-style editor with Change Order title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6AAE5-2F0D-42D2-AB6C-AB98C3F0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51A3B-B119-4EEB-991F-75EA9FF4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Sequential number such as #1008-CO1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B04DD-0429-430B-8D56-D136D6F6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C6932-3792-42A4-9702-25804AD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Original Estimate and Contract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EE15E-2811-4205-92BE-14A40C58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66219-B2F3-43CE-B8D6-DDDABC01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Signed Contract change and shared 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DEF32-0235-4CF0-B403-ACA8431B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DC2C1-EDF8-4C4A-91C1-3AE7C211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Line-scoped conflicts; unrelated COs may coexist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55FE4-82EB-454B-87C3-7E0903D0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Customer web link and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1EBAB-8D22-4EA6-8A8C-8758E647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0FA90-1513-4EF0-B475-50456458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Reuse the Estimate customer document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F4B4C-E370-4C69-9A77-BB6D02EF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50202-17EE-44C0-B2CD-A24D5F2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Title the document Change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E78B2-37B8-4F82-A9C9-3BB20185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105C9-D1B5-4E85-865B-2CAE006E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Show Linked to Estimate #...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F2064-43E4-40DA-AC7C-B7A82C03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3D4E0-CCFA-4253-BB4C-B34E1B5C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Explain added, removed, or revised scope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7CEE6B-F3BF-40D3-AF66-A48BE765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DF18A-C5E1-45DB-82BC-BBA41373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Use CO items, totals, notes, attachments, and terms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AA412-96C1-43C4-BE51-4BAA9CCB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8E87D8-239D-4663-A761-E0409967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Internal pools and allocation mechanics never appear on the customer document.</a:t>
            </a:r>
          </a:p>
        </p:txBody>
      </p:sp>
    </p:spTree>
    <p:extLst>
      <p:ext uri="{BB962C8B-B14F-4D97-AF65-F5344CB8AC3E}">
        <p14:creationId xmlns:p14="http://schemas.microsoft.com/office/powerpoint/2010/main" val="3787347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74CB62-27D3-477F-96EA-C2CC4715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HAPPY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49042-C2F2-4FA1-8C9F-F4E14D11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Retainage happy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81D3C-7EC8-4DAA-BC34-AF38788D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6969A-71BB-4B9A-BBF5-D739B1B7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33A36-7356-4050-822D-3F5799CA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B8459-C7BC-46DF-90BA-55F6EDBA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4860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99227-CFC3-49D2-85BB-CF31EB6D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219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Progress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EA927-58AC-498D-89B6-818B1D97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62150"/>
            <a:ext cx="24860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06770-1254-4448-A9D5-960E1C85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76450"/>
            <a:ext cx="2219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Retainage withheld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C6CB7-0AA2-46A8-B4F3-7176A932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4860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2FC45-9DE3-429E-B249-0396896B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2219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Retainage Balance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C9755-AE2C-4FBA-B581-4DEB2263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62150"/>
            <a:ext cx="24860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BCA45-50C7-45D9-8F67-84931141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76450"/>
            <a:ext cx="2219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Release Invoice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95625" y="24193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24550" y="24193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53475" y="24193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1226C-8FF7-4173-B763-FFE1A819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Withholding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7ACE5-3EF4-4DA4-8AE5-FF05C9FE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485B3-3217-4C5B-841E-33C9E24D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Reduces the Invoice amount 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019BF-4996-40DA-9E5A-51599701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1ACFC-CF47-4477-9710-8A84C53F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Leaves completed Contract scope unchanged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4B6C14-D280-4E02-8EB7-6832C85F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592665-F54D-4313-BD8F-C194DD00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Creates held Retainage Balance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2D57F-D661-4BCD-BA60-02CD41AA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05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Release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FEF80-2EDD-4EBC-A87C-2FA6DB64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782AE8-4DC0-42E7-80D2-11EE65E4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Bills previously withheld money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D1929E-F003-4D8E-A360-73E698F6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00310F-E115-4707-8219-E9293DBB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Supports partial or full release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18382D-1882-487E-861B-8138BA6D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6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EDD4B-3949-4D12-808B-F5F29093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Creates no new Contract scope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091FC1-AFBF-4CEE-9DDD-215B8E51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6286C4-5BFE-4080-A7EA-FCDC01A3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Contract Progress and milestone completion use the full gross work billed.</a:t>
            </a:r>
          </a:p>
        </p:txBody>
      </p:sp>
    </p:spTree>
    <p:extLst>
      <p:ext uri="{BB962C8B-B14F-4D97-AF65-F5344CB8AC3E}">
        <p14:creationId xmlns:p14="http://schemas.microsoft.com/office/powerpoint/2010/main" val="6588550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D0E085-C116-47EE-B57E-998998E7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RETAINAGE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E7ED2-F51C-4B48-8F12-CB956641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Retainage frontend and customer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67A4A-05A8-468C-BBE3-11B5373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0A355-0A7D-477C-8C62-9C603956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D6CFB-D77C-42B8-AB03-96FD1D20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65C5D-AB3A-446C-84A3-0978E734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Internal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BEBB6-22D1-4E1C-8FEA-AC224BD3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44D1F-CE7A-4421-B1CC-7905A3F4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Show withholding only in enabled 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9FCA4-F38F-4340-BE2F-88B1CA4B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91B67-4FAF-49BF-B938-E15F1CBE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Display tracking only after retainage exists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F20A6-B1EF-4A5F-A8AF-028BA388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D3265-37EA-47CE-BFE9-2F5EE365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Track retained, released, held, and available amounts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3CC23-A632-4F1C-9718-A5988876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1D9F7-47B5-4516-B74C-042044B4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Block release above available balance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A14BA-0B93-41DA-A7A4-110FA737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ECE58-8978-41CD-A4BC-FCEB30E0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Keep one active release Draft under existing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24DF0-F50F-4E08-AAFD-B9296C9E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Customer 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22383-0C8E-4964-A77E-7BF2325D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DAF34A-7306-4C19-B3E9-4EF0EBF2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Original Invoice shows Retainage as a deduction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26649-22A7-48B9-83F1-3CCFBC14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E5A99-2044-4806-9C97-C5B024A5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Release Invoice identifies previously withheld funds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46A33-AFFD-4DB2-B8BC-36D04353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259A5-7972-4310-A47C-84BAB105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Single line: Retainage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3EC1A-0D4B-4F6E-93F4-5C0A9D05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B3157-E9EE-4490-8CB8-A00CA707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Qty 1 and the released amount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242F6-507C-4667-9582-28420842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62635-BFCF-4A5D-A4F4-01234786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No suggestion that release represents new work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1F087A-0E28-4814-9CDF-F9D961D9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D58207-15F7-47CE-91CB-B8D7C747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A Retainage release calculates no second tax and does not increase Total Invoiced.</a:t>
            </a:r>
          </a:p>
        </p:txBody>
      </p:sp>
    </p:spTree>
    <p:extLst>
      <p:ext uri="{BB962C8B-B14F-4D97-AF65-F5344CB8AC3E}">
        <p14:creationId xmlns:p14="http://schemas.microsoft.com/office/powerpoint/2010/main" val="7176406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58D8EA-56E6-4D08-9CBB-64792E48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PAYMENT SCHEDULE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A9652-16C2-48C2-98DD-5A70E215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Payment Schedule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843C6-4167-4C93-AB59-A22FA2AD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D7946-5FF3-4F30-9620-B72D495B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82E97-D4BA-49E9-9842-47C09D40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205AF-73ED-4A32-97E4-246A84F0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A schedule plans billing milestones on the Contract. Actual Progress Invoices remain authoritative.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86948-6CB6-4A4B-9ABD-A05F4B2D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DD236-D353-4A95-9B38-97BA4F2A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74498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Contract and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81938-F7C1-4752-8480-9437144F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2479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3786D-C034-4F95-86A5-CC06CC37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362200"/>
            <a:ext cx="174498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Milestone selected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13B64-0A10-423F-ACE2-5360C9FF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2479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8F53F-BD24-469B-9B5A-4861A80F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2362200"/>
            <a:ext cx="174498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Progress Invoice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A64E7-B663-4C29-BC87-7D0AE8AA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22479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DE784-F760-44D0-B53F-838DA103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362200"/>
            <a:ext cx="174498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Contract scope consumed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AAF6C-ADEF-4ED3-8AC2-DAE14432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22479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31C3E-A5A9-419A-9CAE-7D3B3BC5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2362200"/>
            <a:ext cx="174498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Schedule updated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2128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6156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0184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34212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tailEnd type="arrow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C23CB-D254-4E24-9EAE-0197D0EC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A milestone can guide amount and naming.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4F30C-5B54-4596-BD4D-47F09618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It cannot bypass source-line availability, Draft reservations, or overbilling protection.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9AF1B-AF13-4B3B-BE61-B1448011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Schedule state follows the linked Invoice.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F8C3B2-0E08-4AFC-A522-263C8517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Planned becomes Draft invoice, then Invoiced when the Invoice opens. Cancellation returns the milestone to Planned.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FD1BA6-DD6D-444E-9CEA-B06013E7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850CA-C4C0-448A-90B0-A6D94904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Schedule allocation can exceed 100%. The warning does not create scope or authorize billing.</a:t>
            </a:r>
          </a:p>
        </p:txBody>
      </p:sp>
    </p:spTree>
    <p:extLst>
      <p:ext uri="{BB962C8B-B14F-4D97-AF65-F5344CB8AC3E}">
        <p14:creationId xmlns:p14="http://schemas.microsoft.com/office/powerpoint/2010/main" val="5911055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9BBEC-A177-4B9E-BD7F-B1C74ABB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PAYMENT SCHEDULE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57F14-0466-4A62-BCAD-012A6836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Payment Schedule interactions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BA5CA-849F-4FC7-835A-CBDFD244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A504D-3A77-4E10-944C-38A97AE4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FF80A-3206-4125-AC81-733E7715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152D2-ADF9-44EB-95EC-83D96516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Standard 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2469C-406F-4978-B620-0A27C940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00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Separate conversion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D79D2-2744-4940-840B-8190E351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002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Successful save removes the applicable schedule path under existing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AB3AA-B2CA-4511-8A9B-AC2A6B57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933A1-6923-4C82-9977-70C29F48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Progress Invoice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17004-44B3-4221-9180-FCA6D039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03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Milestone guides the draw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4ADE9-0F79-4E18-99BB-85831D26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03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Actual allocation consumes Contract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00766-08BA-42B2-A3D5-C0BCB565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4A957-A8CF-465F-BE18-3011DC06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Accepted 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A1837-8EB8-4873-B512-F815BFC2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Contract Value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3354B-84CE-4409-8440-8561F6FF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Future percentage milestones recalculate; historical actuals stay fixed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EA5B0-3F29-4688-8395-D12C6C60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30792-67E9-43C3-9865-E4AE2008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Retainage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F6142-9BB6-46B4-8EF5-D687A5DB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005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Withholding stays separate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B8DA8-A054-4A33-B237-0E116059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005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Release does not create milestone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20713-7DE0-46D7-8B5D-82003DAB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Historical milestone amounts never rebalance automatically after actual invoice variance.</a:t>
            </a:r>
          </a:p>
        </p:txBody>
      </p:sp>
    </p:spTree>
    <p:extLst>
      <p:ext uri="{BB962C8B-B14F-4D97-AF65-F5344CB8AC3E}">
        <p14:creationId xmlns:p14="http://schemas.microsoft.com/office/powerpoint/2010/main" val="20070835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AAF377-D2A4-489A-825C-BC18C32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NON-HAPPY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9B608-3059-481A-BCA9-6EB941C1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Progress Invoice and Change Order edge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4CA56-BC60-4D15-B3DF-C2404447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EDA8F-F71B-4B7F-B049-E78CB2F4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A5298-D028-4996-AE99-CF815F59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003FA-07B3-4830-8988-44A7E28C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Active Draft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603B8-C9B7-4142-9636-0435E253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Block another tracked Draft; keep reserved scope unavailable.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D2131-AB95-4783-8352-E6B1A8C2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BE85C-39A1-4A02-9F8A-AC457F7A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Attempted overbilling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82D3B-A112-4B74-BD6A-3F1C0EC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Prevent creation beyond Contract and source-line availability.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BDD25-8E5B-4C02-9775-A24F1A3E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21C9F-188A-40B4-B58A-55F98713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Final scope with unused discount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FAE64-D72B-4E6A-B46F-A0E19C0A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Warn about unused Discount Pool and resulting over-invoiced amount.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7C0AD-6ECB-4136-A594-D9E7210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29D5C-9DEF-4C74-B209-B06E5E4C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Posted Invoice edit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370E4-E445-440F-B15A-F6979722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Only the latest eligible unpaid Open Invoice can change financially.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08B5C-C6A4-4233-8820-7A2103C4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CO accepted with Draft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91721-A5F0-4902-B27A-F4D6D43F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05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Cancel the Draft, release reservations, and require a fresh draw.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CD159-98F2-4D13-AF88-BF5C3DD4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06172-1A4B-43F0-9947-DFA3F388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8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Positive CO after billing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C90D7-313C-403B-9C5C-A34437D6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Return the Contract to Partially Billed.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7E16E-27D2-4A5D-81C5-A37B3C62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43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F17C8-9D46-43C5-9EBE-89AB5C44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Deductive 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071FD-46BD-4678-B67A-C5B37D16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Keep history fixed; show over-invoiced state when posted billing exceeds revised scope.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F7032-AC37-4E01-B0DE-5D27D95C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5411F-E544-4C96-B280-3098423A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Accepted CO correction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EFABF8-3859-46CA-AD07-E8E44FCC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054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Create another CO. Do not edit accepted financial scope.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CF9551-6212-42B0-991E-180185DD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AE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B7206-ED02-4679-95A9-A5F246C9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10591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4E4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F4E4E"/>
                </a:solidFill>
                <a:latin typeface="Segoe UI"/>
                <a:ea typeface="Segoe UI"/>
                <a:cs typeface="Segoe UI"/>
              </a:rPr>
              <a:t>Tax Credit remains separate from principal when a deductive CO removes previously taxed scope.</a:t>
            </a:r>
          </a:p>
        </p:txBody>
      </p:sp>
    </p:spTree>
    <p:extLst>
      <p:ext uri="{BB962C8B-B14F-4D97-AF65-F5344CB8AC3E}">
        <p14:creationId xmlns:p14="http://schemas.microsoft.com/office/powerpoint/2010/main" val="6359994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698191-F110-4D16-B2C9-DE8A7F0C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NON-HAPPY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94C06-A04A-4920-B2E8-1A95B448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Retainage and Payment Schedule edge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6B2C7-EB0C-4768-89CE-0D48C667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AEEC9-9E5E-4C7B-AE87-680D72D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7A793-122A-43CD-93E3-4FDE4B5B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5E15A-2073-4910-B9BB-AD69F6AB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Retainage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6738C-5185-48A1-ACFF-B0EEAFF7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63C98-315F-43F8-BEF0-FFD559A3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No retainage means no tracking UI or totals 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477E4-E72F-49A2-BB5C-B418F9A6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8DD83-0A1B-4481-AD88-878FB625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Partial release leaves the remainder held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9FA90-112B-4417-B35F-853493D7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0BB50-74E2-4E9E-97B1-51FE1FA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Over-release stays blocked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BCBD5-E1F1-406F-A6C2-59812898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3E6DF-857B-43D6-B1BD-A66DE260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Full Contract completion can coexist with held retainage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7478F-46DD-423E-804B-FA0092F8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17FB0-1F2C-4214-954E-D40738A3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Invoice cancellation reverses recognized withholding under existing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FD3F4-CFB3-4493-B8D0-017201C4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Payment Schedule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47FFD-E52B-496E-9D22-55492F99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C00CF-6B76-4093-A6EA-A45B118C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More than 100% remains advisory over-allocation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0C118-A268-49D7-A709-DD373759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A1DDB-9B95-4CAE-BA63-697D0EA1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Draft-linked milestone is not fulfilled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7BD8F-8AE7-45C2-9458-F29E5763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6F8ED-F67B-451A-A617-DB79862C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Invoiced milestone cannot create another Invoice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85454-70BD-4CBB-9FD1-49DF8EB2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FF886-1E00-4B03-B81B-3B13DB60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Accepted CO recalculates future projections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49E99-7553-4538-933D-289608A5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FF44DC-5BD9-4BCF-8196-F395F76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Canceled Invoice restores the live milestone to Planned</a:t>
            </a:r>
          </a:p>
        </p:txBody>
      </p:sp>
    </p:spTree>
    <p:extLst>
      <p:ext uri="{BB962C8B-B14F-4D97-AF65-F5344CB8AC3E}">
        <p14:creationId xmlns:p14="http://schemas.microsoft.com/office/powerpoint/2010/main" val="9631999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4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C8EDE0-DEE8-4A05-9DA3-698FBAE9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B1FF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91B1FF"/>
                </a:solidFill>
                <a:latin typeface="Segoe UI"/>
                <a:ea typeface="Segoe UI"/>
                <a:cs typeface="Segoe UI"/>
              </a:rPr>
              <a:t>QBO SYNCHRONIZATION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10E75-3CA5-4FDD-99E9-462053C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QuickBooks Online ownership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E3E4D-47AE-4688-AECE-9E97BB3C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1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ADE03-27D6-4328-9BDE-8A091D58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5D4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B7C5D4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02921-BEF9-4790-80D0-624EE182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C5D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7C5D4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3B78D-55AE-4C5A-B5EE-FC533C01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Cinderblock owns Contract billing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7A7C2-538F-4816-8D01-03244104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1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B0447-3D87-48E0-94FF-2DA448A9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Contract Progress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0E330-7C71-46D4-BA09-A1E0C201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1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8882F-1F61-4583-A54C-AB11EE56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Source-line allocations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CD75A-CB48-4AFA-85AC-018ED7E8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1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BBE23-D3DB-4F77-BDBE-27C485C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Discount and Cost Plus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414F1-6019-4E08-AAD2-4E2FBB3B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1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3D799-F849-4376-BD84-5C37471D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Retainage Balance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94297-49D2-46C3-8F56-22B70298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1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C7F89-5CEC-4325-9AD8-B6FF9852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Payment Schedule and CO relationships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9157F-5F96-4AAA-983D-F9A93C64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621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QBO receives accounting documents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B0071-0D0F-4583-864D-0DBD938E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C6B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10EC2-48D6-4FD8-BC13-E4468CA8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QBO Estimates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8BC47-01F9-4A41-BF18-78E59A31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C6B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182DB-1467-435B-A465-0E3B0251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Ordinary QBO Invoices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6C5CB-7CCF-42E0-83DA-F52B59DD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C6B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037AE-E3C1-49E6-A4B3-7AE5DE1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Actual quantities and amounts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F9703-8A7C-45DC-A1B2-C19B13FE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C6B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0CA4C-7E39-42BD-9B36-3525D14F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Represented discounts and fees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6FF23-525E-40E6-BD97-6FC249AD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C6B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A958B-6F9E-4D4C-A170-2AE56E9E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D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D4DF"/>
                </a:solidFill>
                <a:latin typeface="Segoe UI"/>
                <a:ea typeface="Segoe UI"/>
                <a:cs typeface="Segoe UI"/>
              </a:rPr>
              <a:t>Tax facts compatible with QBO configuration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60763-DF1B-4B2A-B7B7-13A0D5A7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3A5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4127A-5684-4243-9B22-C44DBE78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Cinderblock does not use QBO Progress Invoicing or QBO Estimate-to-Invoice progress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6832765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3142E-76F6-4A5C-B2B1-D464800E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QBO SYNCHRONIZATION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CC707-4FCE-4E53-8001-619AF81C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QBO document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F1C81-E532-44B4-A2F3-B10A4AB2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2C7D4-20B1-4E25-8468-18FCCE02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B56EB-F46A-4B74-8ECC-35343A62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048000"/>
                <a:gridCol w="4876800"/>
              </a:tblGrid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Cinderblock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QuickBooks Online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Business rule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Estimate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Standard QBO Estimate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No QBO Progress Invoicing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Change Order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Separate QBO Estimate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Preserve CO identity; do not modify original Estimate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Standard Invoice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Ordinary QBO Invoice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Use existing Invoice sync behavior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Progress / Contract Invoice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Ordinary QBO Invoice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No QBO Estimate linkage or Contract lineage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Retainage Release Invoice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Ordinary QBO Invoice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One positive Retainage release line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8811B-7664-4AC0-8789-B7F6BCAD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Status mapping: Partially Billed → QBO Converted; Billed → QBO Converted. Cinderblock preserves the local distinction.</a:t>
            </a:r>
          </a:p>
        </p:txBody>
      </p:sp>
    </p:spTree>
    <p:extLst>
      <p:ext uri="{BB962C8B-B14F-4D97-AF65-F5344CB8AC3E}">
        <p14:creationId xmlns:p14="http://schemas.microsoft.com/office/powerpoint/2010/main" val="2698904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C021E-FBA9-419A-8501-81E468F0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QBO SYNCHRONIZATION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B93AA-6DCA-4C04-B993-BBB014FF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QBO line representation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FB817-5E92-4B53-B961-10CBB61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5D447-0787-496A-94C6-1C2D97B4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6191B-7C2C-4A6B-9106-1A16FB91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2120E-98EC-4DA7-B729-E333A97B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Progress quantity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C0017-A8BC-4DB3-B046-CFD8D0A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Contract line</a:t>
            </a:r>
          </a:p>
          <a:p xmlns:a="http://schemas.openxmlformats.org/drawingml/2006/main">
            <a:pPr algn="l">
              <a:defRPr sz="150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Qty 10 × $100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25% billed</a:t>
            </a:r>
          </a:p>
          <a:p xmlns:a="http://schemas.openxmlformats.org/drawingml/2006/main">
            <a:pPr algn="l">
              <a:defRPr sz="150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Qty 2.5 × $100 = $250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DE67B-4057-4BF4-89EF-0F676154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QBO receives the actual fractional quantity even if the customer view hides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A198E-3520-4542-911F-53B9D3F9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04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Retainage withheld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F5A6E-944E-4688-A479-F45239AE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3238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98D08-0B14-4F3F-8EE8-86DC3BD6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Retainage   Qty 1   -$1,000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9747A-AA0C-435C-BFD5-E150B17A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One negative line. No allocation across work lines.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82C54-8120-48D5-83F5-1EAF5758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049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Retainage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B3ED8-B9CE-4A08-88F7-153AF84B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14550"/>
            <a:ext cx="3276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4E499-363B-4A0E-95AA-12042D8E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Retainage release   Qty 1   $1,000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32E20-5E8C-4C97-8836-D700964B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327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One positive line. No original work lines are resent.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C01CE-DE9A-4D36-80F4-8624D49E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1FA0F-7580-4B6B-B6B4-40EDBE95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Discount and Cost Plus sync only when the Cinderblock document represents them.</a:t>
            </a:r>
          </a:p>
        </p:txBody>
      </p:sp>
    </p:spTree>
    <p:extLst>
      <p:ext uri="{BB962C8B-B14F-4D97-AF65-F5344CB8AC3E}">
        <p14:creationId xmlns:p14="http://schemas.microsoft.com/office/powerpoint/2010/main" val="16430349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871EE4-BEB5-40C4-88DD-85631FE1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QBO SYNCHRONIZATION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E7165-A3B1-4348-84E6-91C5BE5D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QBO accounting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A4EE6-185F-4C43-AAB6-D0C33AFC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62A1E-B729-4A40-B119-756DB433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A3C63-19E9-489D-8645-52B1CAFA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7DF88-D385-4ADB-BD37-412E0F60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A diverged QBO transaction requires an explicit conflict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376FC-23BC-4D64-A6AD-2906018B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500313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B5015-CEC8-4634-B5CA-7A4D67D6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2336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Last successful sync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DED9B-8E8E-4684-BF95-C35D98D0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152650"/>
            <a:ext cx="2500313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53550-FEB6-4D17-A642-B0974436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266950"/>
            <a:ext cx="22336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QBO changes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F2895-E0A4-479D-874D-2D01C8E8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52650"/>
            <a:ext cx="2500313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89A80-8274-404F-9B9B-0E722F8F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66950"/>
            <a:ext cx="22336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Conflict surfaced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F24A1-30DF-40BA-A532-5C8A060B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152650"/>
            <a:ext cx="2500313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DD577-A0AC-405D-BF66-54D5038D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266950"/>
            <a:ext cx="22336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User resolves safely</a:t>
            </a:r>
          </a:p>
        </p:txBody>
      </p: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09913" y="25717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4E4E"/>
            </a:solidFill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34076" y="2571750"/>
            <a:ext cx="3238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4E4E"/>
            </a:solidFill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58238" y="25717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4E4E"/>
            </a:solidFill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9B683-7EB1-45DB-8423-84160F54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F4E4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F4E4E"/>
                </a:solidFill>
                <a:latin typeface="Segoe UI"/>
                <a:ea typeface="Segoe UI"/>
                <a:cs typeface="Segoe UI"/>
              </a:rPr>
              <a:t>Protected situations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56F19-581E-4983-9D99-27618A84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4E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9D985-AA78-43A9-8606-F779170A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QBO edit, deletion, or void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14893-8D85-40F4-BB08-D6F1E91C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4E4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FF305-C2B6-48D5-9230-5C10E576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Payment or credit recorded in QBO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CA763-6961-4066-8917-25B83ECB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4E4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54E4C-8D40-4F92-A0A7-DE8ED32B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Cinderblock edit, cancellation, or invalidation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92AA6-2DB7-4112-8D4D-FD2527C7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4E4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54BCC2-FB81-4D1F-84D3-4647FD24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Failed or uncertain synchronization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93CDB-2C15-42D4-B821-B5F65469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Required outcome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772B5D-5905-4DF3-B257-5B691691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E04DEF-D34C-4FA5-8459-93D5D76D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Preserve Cinderblock Contract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82318D-B87C-4C71-B8EB-D8167F4C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AC5F8B-D4B0-4F74-A62D-7F6B88A2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Do not silently overwrite or recreate QBO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F1420-D3AA-450D-8C73-124791A4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05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11AEFB-460F-48B9-9FE4-BBC66B76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Block duplicate Accounts Receivable risk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FDEDD4-A4D1-4875-8A9B-69806037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00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8B22AE-05F9-44CB-9504-E8469ED6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435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Require intentional accounting resolution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63F5DC-8225-4DC0-870E-5B3FCFF3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A0B2AF-2F34-4C9E-A264-7CDA7C71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QBO payment activity can change settlement state. It never changes Contract Progress or Contract scope.</a:t>
            </a:r>
          </a:p>
        </p:txBody>
      </p:sp>
    </p:spTree>
    <p:extLst>
      <p:ext uri="{BB962C8B-B14F-4D97-AF65-F5344CB8AC3E}">
        <p14:creationId xmlns:p14="http://schemas.microsoft.com/office/powerpoint/2010/main" val="11354681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1B413C-BC0F-43A5-9E57-69500969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HANDOFF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043D3-FE57-4214-BFF3-0DE10741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Frontend requirement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CA8AB-29DB-4D35-A2B8-F420127F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529D5-48A2-45DA-A74B-001ECFCF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6FAFD-F203-475D-9BB9-83A7E860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B6BD7-9251-4A24-8E20-732D9D5C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Progress 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A10DA-EF56-431E-B2EB-251B5E81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6FE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3DFF0-3ED3-4ECD-8008-C6C7BB91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BDFAE-AC9A-49E3-839D-F81696C5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Contract-level creation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E3803-6795-4D98-A571-2D771CE4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85AEE-1CAB-46D6-BEFB-5018E382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Gross Remaining subtotal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6DB52-D048-4BC1-BFBA-3C05EC17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282B6-1BA9-4368-A3A7-33D7530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Source grouping and availability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63468-5F5B-4389-A4A8-2E042C1F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09508-6692-4E29-97F6-05BCE9F9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Draft reservation and locks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CF9F2-30D1-4F4A-B502-950F30CF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7E472-4585-4E3B-98BB-E9746BC3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Contract Progress and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11D95-C802-462C-9F69-19DCE032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02EC0-39FA-4821-9A2E-ECA66557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Saved-document previews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23E28-87CD-41A8-A5FC-97AC1B61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Change 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BB0D0-7ECE-45A6-8236-4EE40C8F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762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871387-2627-4C40-B9F5-3B2BE74F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8AE275-44E1-4F54-BB18-D8ABFA97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050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Estimate-style editor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C2FE14-105D-433E-8A08-202F70FD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F874E-A97A-4E2D-A47B-3619C212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 number and Estimate link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22BFE-44B0-4629-87AE-3435A0C3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B612E-C114-4C87-A6C7-975C61ED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99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Approval lifecycle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56850B-CDCD-4537-AB3F-07E7EBDE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73A0F6-E81F-4CBF-A833-D2F2B266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624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Contract billing 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8397DA-1C2D-444F-8BEB-C7F588C2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9FEDE0-0A06-43D7-8CAE-1437E1FC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148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Net Contract change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1257E3-DC0F-42F5-B2B1-E34D419F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24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62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CB4D38-8AF8-478F-8CD3-F40E198C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673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PDF and Customer Link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E9C47B-BBE9-486C-B337-8771E38A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676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68676"/>
                </a:solidFill>
                <a:latin typeface="Segoe UI"/>
                <a:ea typeface="Segoe UI"/>
                <a:cs typeface="Segoe UI"/>
              </a:rPr>
              <a:t>Retainage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8CD00C-030B-406C-8F79-AC8B7668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67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49829C-A4A4-44F6-8C54-70F06B75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CFA505-832D-4E74-8A66-5F7C6D1A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Withholding control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7F346D-7837-48F8-856B-B47A78C1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BE258B-7A72-49F4-9B6F-1E004C77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Conditional tracking block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577D6C-D5F5-4766-8431-2E5A3974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0C99D6-DCFC-49CE-983A-0F2E7361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99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Available release limit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763551-094C-42A7-8F83-51BDD332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8CD363-808C-4284-8B8D-947C5454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624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Partial and full release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7EBAFF-31FC-4624-8517-FCF23F57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6DACFD-8344-437F-AF83-C010D925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No empty state when absent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97B08A-7EDB-414F-A0C6-48A5B0BF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24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6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D535BE-C326-4084-B762-2D35EE80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673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Customer release document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AE69E9-4BFD-416C-AFCD-9B904C8A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001128-F402-4122-9F95-892F173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Standard Invoice keeps its existing independent copy and conversion behavior.</a:t>
            </a:r>
          </a:p>
        </p:txBody>
      </p:sp>
    </p:spTree>
    <p:extLst>
      <p:ext uri="{BB962C8B-B14F-4D97-AF65-F5344CB8AC3E}">
        <p14:creationId xmlns:p14="http://schemas.microsoft.com/office/powerpoint/2010/main" val="875100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02308-2DA9-4A17-86FA-72B5FE35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HANDOFF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4834C-50FC-4B24-B6D3-92228BB8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Customer-facing requirement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B6E20-5B41-4A64-B83D-EE2BFBCF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3E004-85D7-4E93-AF65-5F10C815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C20A8-3428-4044-8DAA-F7E6367D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305300"/>
              </a:tblGrid>
              <a:tr h="9906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Document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Customer sees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Customer does not see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Progress Invoice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Contract amount, prior billing, current billing, balance, applicable adjustments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Internal pools, reservations, or allocation mechanics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Change Order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CO identity, linked Estimate, revised scope, Contract change, totals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Internal Contract ledger or source-allocation rules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Retainage Release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One Retainage release line and clear amount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Original work repeated as new scope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FCA30-1AA4-4BB2-91A1-223AB7D7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Web link and PDF present the same core business information. Conditional totals remain conditional.</a:t>
            </a:r>
          </a:p>
        </p:txBody>
      </p:sp>
    </p:spTree>
    <p:extLst>
      <p:ext uri="{BB962C8B-B14F-4D97-AF65-F5344CB8AC3E}">
        <p14:creationId xmlns:p14="http://schemas.microsoft.com/office/powerpoint/2010/main" val="20678306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1345C-8589-4451-8721-EE3CD7DA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1D415-38A7-4C2D-81E1-05867E24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Technical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29246-520F-41C7-B99E-A133ED64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C7D52-4131-4146-981F-8365AB96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232AA-700A-4B03-BEB8-9805597D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667B7-3AF7-4201-97F9-4292CE04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Only implementation constraints that preserve the business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A5404-1AAB-4F99-80BE-E116D9BB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Stable lineage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803AA-ED5E-4986-B656-A4A31474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Persist source identity so revisions never redistribute historical billing.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3B2C0-C73B-4F83-B54A-832E14C4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53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62A6F-2C65-40A6-BAFA-FE14CB96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Deterministic money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9651A-9333-462E-87D0-005374E8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Use fixed decimal calculations and reconcile displayed components to totals.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709FB-EAF2-4D55-9562-E56E4803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53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41041-AC46-4634-9ABD-79756F8D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Document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63E09-8752-4178-B01C-48275705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Preserve Estimate, CO, Invoice, and external accounting identifiers.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5D858-367A-4A57-B3DE-BA6DAC80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53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1EEA1-FA53-4D79-8878-322F832E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Existing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934DF-4C84-4493-9DF5-7517A469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0535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Reuse current tax, payment, permission, and QBO sync behavior unless these requirements override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03904-E81A-48A4-957C-709F8962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5B741-15FB-494E-BFFE-21A5CB8D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API design, schemas, polling, webhooks, and service boundaries remain outside this business handoff.</a:t>
            </a:r>
          </a:p>
        </p:txBody>
      </p:sp>
    </p:spTree>
    <p:extLst>
      <p:ext uri="{BB962C8B-B14F-4D97-AF65-F5344CB8AC3E}">
        <p14:creationId xmlns:p14="http://schemas.microsoft.com/office/powerpoint/2010/main" val="4177138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389F3-4FD3-479F-8BB8-E2E68CD4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A36F4-18FD-4B9C-804D-F2CCFDBC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Open production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CBAF2-FE55-480D-B820-137AB3A5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C6ACF-8B85-4C8C-870C-9B3DE92B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85B79-3DB3-4110-8271-24BA4A8C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8017B-ACE7-4F9B-BECC-1F770992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The core Contract model is complete. Production QBO rollout still needs product and accounting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773CF-02F7-47E4-96A7-2ADD2814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Accounting mappings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02164-2BC3-4389-8905-7C81309B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Confirm Product/Service and account treatment for Retainage, Retainage release, discounts, and Cost Plus.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D162A-F7C2-4A33-851B-A85FB6DB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5AE09-E77B-4A51-9CC0-244E4EAF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4762C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4762C"/>
                </a:solidFill>
                <a:latin typeface="Segoe UI"/>
                <a:ea typeface="Segoe UI"/>
                <a:cs typeface="Segoe UI"/>
              </a:rPr>
              <a:t>Tax alignment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99BDF-F5A0-4238-AD63-34AD173C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Confirm compatible calculation order and rounding across discounts, Cost Plus, Retainage, negative lines, and supported QBO tax modes.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03EC0-C722-4216-8936-DF3CFD1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8F230-9C89-4D05-BF9C-D7BE6E6A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F4E4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BF4E4E"/>
                </a:solidFill>
                <a:latin typeface="Segoe UI"/>
                <a:ea typeface="Segoe UI"/>
                <a:cs typeface="Segoe UI"/>
              </a:rPr>
              <a:t>Conflict resolution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A3F88-2F5A-4316-9CEB-179237F9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Define safe outcomes for Keep QuickBooks version, overwrite, void, relink, and detach without importing QBO edits into Contract ledgers.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778F4-254A-4A0F-A35F-87FEB60B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6388B-D8CA-4AA8-9D62-00718B91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F4E4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BF4E4E"/>
                </a:solidFill>
                <a:latin typeface="Segoe UI"/>
                <a:ea typeface="Segoe UI"/>
                <a:cs typeface="Segoe UI"/>
              </a:rPr>
              <a:t>Accounting restrictions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30BC3-41F1-4B53-8C2E-698C15CA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566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41566B"/>
                </a:solidFill>
                <a:latin typeface="Segoe UI"/>
                <a:ea typeface="Segoe UI"/>
                <a:cs typeface="Segoe UI"/>
              </a:rPr>
              <a:t>Define permissions and behavior for payments, credits, deposits, closed periods, reconciled transactions, and material versus metadata edits.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B2490-8969-48A9-942B-5B212973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AE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39644-4E5D-45CA-8331-FD60175E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4E4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F4E4E"/>
                </a:solidFill>
                <a:latin typeface="Segoe UI"/>
                <a:ea typeface="Segoe UI"/>
                <a:cs typeface="Segoe UI"/>
              </a:rPr>
              <a:t>Safe default: preserve both systems, block the risky QBO write, and require intentional resolution.</a:t>
            </a:r>
          </a:p>
        </p:txBody>
      </p:sp>
    </p:spTree>
    <p:extLst>
      <p:ext uri="{BB962C8B-B14F-4D97-AF65-F5344CB8AC3E}">
        <p14:creationId xmlns:p14="http://schemas.microsoft.com/office/powerpoint/2010/main" val="49584690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220C2-B96F-4EBE-904A-A1B56D67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2F6FED"/>
                </a:solidFill>
                <a:latin typeface="Segoe UI"/>
                <a:ea typeface="Segoe UI"/>
                <a:cs typeface="Segoe UI"/>
              </a:rPr>
              <a:t>SELF-AUDIT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5FFB6-4AD3-4DF6-9A1A-0E3B6A23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63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638"/>
                </a:solidFill>
                <a:latin typeface="Segoe UI"/>
                <a:ea typeface="Segoe UI"/>
                <a:cs typeface="Segoe UI"/>
              </a:rPr>
              <a:t>Business logic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178A8-7546-4CED-B824-8DD68EC5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3F64D-EF44-4924-801C-4F9E7FE6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CINDERBLOCK  /  DEV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DDFD8-325E-4BAE-953B-18E1633A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F7F8E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914400" y="1562100"/>
          <a:ext xmlns:a="http://schemas.openxmlformats.org/drawingml/2006/main" cx="103632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809750"/>
                <a:gridCol w="4552950"/>
              </a:tblGrid>
              <a:tr h="51162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Area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Result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Audit finding</a:t>
                      </a:r>
                    </a:p>
                  </a:txBody>
                  <a:tcPr marL="114300" marR="114300" marT="76200" marB="76200" anchor="ctr">
                    <a:solidFill>
                      <a:srgbClr val="142638"/>
                    </a:solidFill>
                  </a:tcPr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Standard Invoice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PASS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Independent copy and conversion flow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Progress Invoice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PASS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Contract-based from Estimate acceptance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Change Order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PASS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Revises Contract without rewriting history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Retainage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PASS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Withholding and release remain outside scope completion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Payment Schedule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PASS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Planning layer; actual tracked billing remains authoritative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1162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QBO sync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PASS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1566B"/>
                          </a:solidFill>
                          <a:latin typeface="Segoe UI"/>
                          <a:ea typeface="Segoe UI"/>
                          <a:cs typeface="Segoe UI"/>
                        </a:rPr>
                        <a:t>Accounting destination with conflict safeguards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4B6A4-2362-4ECF-A78F-2A3D57FE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0363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6DF1D-3539-4B99-8CED-5343211B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76900"/>
            <a:ext cx="998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52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F7A52"/>
                </a:solidFill>
                <a:latin typeface="Segoe UI"/>
                <a:ea typeface="Segoe UI"/>
                <a:cs typeface="Segoe UI"/>
              </a:rPr>
              <a:t>Core flows are internally consistent. Open QBO production decisions are listed in the preceding appendix.</a:t>
            </a:r>
          </a:p>
        </p:txBody>
      </p:sp>
    </p:spTree>
    <p:extLst>
      <p:ext uri="{BB962C8B-B14F-4D97-AF65-F5344CB8AC3E}">
        <p14:creationId xmlns:p14="http://schemas.microsoft.com/office/powerpoint/2010/main" val="1147498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2026-09-20T18:17:01.3640000Z</dcterms:created>
  <dcterms:modified xsi:type="dcterms:W3CDTF">2026-09-20T18:17:01.3640000Z</dcterms:modified>
</coreProperties>
</file>