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8143d6daf04c96" /><Relationship Type="http://schemas.openxmlformats.org/officeDocument/2006/relationships/extended-properties" Target="/docProps/app.xml" Id="Rc5d7ab435d2f4948" /><Relationship Type="http://schemas.openxmlformats.org/officeDocument/2006/relationships/officeDocument" Target="/ppt/presentation.xml" Id="R6a020f0c982a44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549d7f8acd42aa"/>
  </p:sldMasterIdLst>
  <p:notesMasterIdLst>
    <p:notesMasterId xmlns:r="http://schemas.openxmlformats.org/officeDocument/2006/relationships" r:id="R6ed62c8a4e004723"/>
  </p:notesMasterIdLst>
  <p:sldIdLst>
    <p:sldId xmlns:r="http://schemas.openxmlformats.org/officeDocument/2006/relationships" id="256" r:id="R5da5010675e74c3b"/>
    <p:sldId xmlns:r="http://schemas.openxmlformats.org/officeDocument/2006/relationships" id="257" r:id="Re7cf4949e8444e13"/>
    <p:sldId xmlns:r="http://schemas.openxmlformats.org/officeDocument/2006/relationships" id="258" r:id="Rc9188b11bed04e61"/>
    <p:sldId xmlns:r="http://schemas.openxmlformats.org/officeDocument/2006/relationships" id="259" r:id="Rf142d98cbf684cdb"/>
    <p:sldId xmlns:r="http://schemas.openxmlformats.org/officeDocument/2006/relationships" id="260" r:id="R8040e04d2e55404a"/>
    <p:sldId xmlns:r="http://schemas.openxmlformats.org/officeDocument/2006/relationships" id="261" r:id="R79c06945f4f849a8"/>
    <p:sldId xmlns:r="http://schemas.openxmlformats.org/officeDocument/2006/relationships" id="262" r:id="Raaeb9b7c84af4c2b"/>
    <p:sldId xmlns:r="http://schemas.openxmlformats.org/officeDocument/2006/relationships" id="263" r:id="Ra060cbf948ea4b61"/>
    <p:sldId xmlns:r="http://schemas.openxmlformats.org/officeDocument/2006/relationships" id="264" r:id="R7698bd3b08754848"/>
    <p:sldId xmlns:r="http://schemas.openxmlformats.org/officeDocument/2006/relationships" id="265" r:id="R30408a6f5444447c"/>
    <p:sldId xmlns:r="http://schemas.openxmlformats.org/officeDocument/2006/relationships" id="266" r:id="R00561c3db7ff4a73"/>
    <p:sldId xmlns:r="http://schemas.openxmlformats.org/officeDocument/2006/relationships" id="267" r:id="R564890e5d9e1433e"/>
    <p:sldId xmlns:r="http://schemas.openxmlformats.org/officeDocument/2006/relationships" id="268" r:id="Rf9958a15a5314300"/>
    <p:sldId xmlns:r="http://schemas.openxmlformats.org/officeDocument/2006/relationships" id="269" r:id="R924628101f7f4093"/>
    <p:sldId xmlns:r="http://schemas.openxmlformats.org/officeDocument/2006/relationships" id="270" r:id="Re6383dfd02114534"/>
    <p:sldId xmlns:r="http://schemas.openxmlformats.org/officeDocument/2006/relationships" id="271" r:id="R5fd5db603dc94b34"/>
    <p:sldId xmlns:r="http://schemas.openxmlformats.org/officeDocument/2006/relationships" id="272" r:id="R8b5bf321357e4bb3"/>
    <p:sldId xmlns:r="http://schemas.openxmlformats.org/officeDocument/2006/relationships" id="273" r:id="R59754851518548c1"/>
    <p:sldId xmlns:r="http://schemas.openxmlformats.org/officeDocument/2006/relationships" id="274" r:id="Rd3df07244b774e65"/>
    <p:sldId xmlns:r="http://schemas.openxmlformats.org/officeDocument/2006/relationships" id="275" r:id="R283cbd9c7873412d"/>
    <p:sldId xmlns:r="http://schemas.openxmlformats.org/officeDocument/2006/relationships" id="276" r:id="R7a908a53512540ac"/>
    <p:sldId xmlns:r="http://schemas.openxmlformats.org/officeDocument/2006/relationships" id="277" r:id="Ree64cf32cc014508"/>
    <p:sldId xmlns:r="http://schemas.openxmlformats.org/officeDocument/2006/relationships" id="278" r:id="R2cf4e688b0714684"/>
    <p:sldId xmlns:r="http://schemas.openxmlformats.org/officeDocument/2006/relationships" id="279" r:id="Rb2307d95f7b14ae3"/>
    <p:sldId xmlns:r="http://schemas.openxmlformats.org/officeDocument/2006/relationships" id="280" r:id="R0ca7ddd124fe466b"/>
    <p:sldId xmlns:r="http://schemas.openxmlformats.org/officeDocument/2006/relationships" id="281" r:id="Rd36973f015cf4f4e"/>
    <p:sldId xmlns:r="http://schemas.openxmlformats.org/officeDocument/2006/relationships" id="282" r:id="Rf2b1cfa2ee4f44e0"/>
    <p:sldId xmlns:r="http://schemas.openxmlformats.org/officeDocument/2006/relationships" id="283" r:id="R6036607144954094"/>
    <p:sldId xmlns:r="http://schemas.openxmlformats.org/officeDocument/2006/relationships" id="284" r:id="R7f3b9c31676c4e9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959373eb104efd" /><Relationship Type="http://schemas.openxmlformats.org/officeDocument/2006/relationships/slideMaster" Target="/ppt/slideMasters/slideMaster1.xml" Id="R9d549d7f8acd42aa" /><Relationship Type="http://schemas.openxmlformats.org/officeDocument/2006/relationships/notesMaster" Target="/ppt/notesMasters/notesMaster1.xml" Id="R6ed62c8a4e004723" /><Relationship Type="http://schemas.openxmlformats.org/officeDocument/2006/relationships/presProps" Target="/ppt/presProps.xml" Id="Rbf5d3471f28a4a28" /><Relationship Type="http://schemas.openxmlformats.org/officeDocument/2006/relationships/tableStyles" Target="/ppt/tableStyles.xml" Id="Rbe19358cce604edf" /><Relationship Type="http://schemas.openxmlformats.org/officeDocument/2006/relationships/slide" Target="/ppt/slides/slide1.xml" Id="R5da5010675e74c3b" /><Relationship Type="http://schemas.openxmlformats.org/officeDocument/2006/relationships/slide" Target="/ppt/slides/slide2.xml" Id="Re7cf4949e8444e13" /><Relationship Type="http://schemas.openxmlformats.org/officeDocument/2006/relationships/slide" Target="/ppt/slides/slide3.xml" Id="Rc9188b11bed04e61" /><Relationship Type="http://schemas.openxmlformats.org/officeDocument/2006/relationships/slide" Target="/ppt/slides/slide4.xml" Id="Rf142d98cbf684cdb" /><Relationship Type="http://schemas.openxmlformats.org/officeDocument/2006/relationships/slide" Target="/ppt/slides/slide5.xml" Id="R8040e04d2e55404a" /><Relationship Type="http://schemas.openxmlformats.org/officeDocument/2006/relationships/slide" Target="/ppt/slides/slide6.xml" Id="R79c06945f4f849a8" /><Relationship Type="http://schemas.openxmlformats.org/officeDocument/2006/relationships/slide" Target="/ppt/slides/slide7.xml" Id="Raaeb9b7c84af4c2b" /><Relationship Type="http://schemas.openxmlformats.org/officeDocument/2006/relationships/slide" Target="/ppt/slides/slide8.xml" Id="Ra060cbf948ea4b61" /><Relationship Type="http://schemas.openxmlformats.org/officeDocument/2006/relationships/slide" Target="/ppt/slides/slide9.xml" Id="R7698bd3b08754848" /><Relationship Type="http://schemas.openxmlformats.org/officeDocument/2006/relationships/slide" Target="/ppt/slides/slide10.xml" Id="R30408a6f5444447c" /><Relationship Type="http://schemas.openxmlformats.org/officeDocument/2006/relationships/slide" Target="/ppt/slides/slide11.xml" Id="R00561c3db7ff4a73" /><Relationship Type="http://schemas.openxmlformats.org/officeDocument/2006/relationships/slide" Target="/ppt/slides/slide12.xml" Id="R564890e5d9e1433e" /><Relationship Type="http://schemas.openxmlformats.org/officeDocument/2006/relationships/slide" Target="/ppt/slides/slide13.xml" Id="Rf9958a15a5314300" /><Relationship Type="http://schemas.openxmlformats.org/officeDocument/2006/relationships/slide" Target="/ppt/slides/slide14.xml" Id="R924628101f7f4093" /><Relationship Type="http://schemas.openxmlformats.org/officeDocument/2006/relationships/slide" Target="/ppt/slides/slide15.xml" Id="Re6383dfd02114534" /><Relationship Type="http://schemas.openxmlformats.org/officeDocument/2006/relationships/slide" Target="/ppt/slides/slide16.xml" Id="R5fd5db603dc94b34" /><Relationship Type="http://schemas.openxmlformats.org/officeDocument/2006/relationships/slide" Target="/ppt/slides/slide17.xml" Id="R8b5bf321357e4bb3" /><Relationship Type="http://schemas.openxmlformats.org/officeDocument/2006/relationships/slide" Target="/ppt/slides/slide18.xml" Id="R59754851518548c1" /><Relationship Type="http://schemas.openxmlformats.org/officeDocument/2006/relationships/slide" Target="/ppt/slides/slide19.xml" Id="Rd3df07244b774e65" /><Relationship Type="http://schemas.openxmlformats.org/officeDocument/2006/relationships/slide" Target="/ppt/slides/slide20.xml" Id="R283cbd9c7873412d" /><Relationship Type="http://schemas.openxmlformats.org/officeDocument/2006/relationships/slide" Target="/ppt/slides/slide21.xml" Id="R7a908a53512540ac" /><Relationship Type="http://schemas.openxmlformats.org/officeDocument/2006/relationships/slide" Target="/ppt/slides/slide22.xml" Id="Ree64cf32cc014508" /><Relationship Type="http://schemas.openxmlformats.org/officeDocument/2006/relationships/slide" Target="/ppt/slides/slide23.xml" Id="R2cf4e688b0714684" /><Relationship Type="http://schemas.openxmlformats.org/officeDocument/2006/relationships/slide" Target="/ppt/slides/slide24.xml" Id="Rb2307d95f7b14ae3" /><Relationship Type="http://schemas.openxmlformats.org/officeDocument/2006/relationships/slide" Target="/ppt/slides/slide25.xml" Id="R0ca7ddd124fe466b" /><Relationship Type="http://schemas.openxmlformats.org/officeDocument/2006/relationships/slide" Target="/ppt/slides/slide26.xml" Id="Rd36973f015cf4f4e" /><Relationship Type="http://schemas.openxmlformats.org/officeDocument/2006/relationships/slide" Target="/ppt/slides/slide27.xml" Id="Rf2b1cfa2ee4f44e0" /><Relationship Type="http://schemas.openxmlformats.org/officeDocument/2006/relationships/slide" Target="/ppt/slides/slide28.xml" Id="R6036607144954094" /><Relationship Type="http://schemas.openxmlformats.org/officeDocument/2006/relationships/slide" Target="/ppt/slides/slide29.xml" Id="R7f3b9c31676c4e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c2861dd3ff44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694536c93e4631" /><Relationship Type="http://schemas.openxmlformats.org/officeDocument/2006/relationships/notesMaster" Target="/ppt/notesMasters/notesMaster1.xml" Id="R5c98903416e74f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f3a8530b024241" /><Relationship Type="http://schemas.openxmlformats.org/officeDocument/2006/relationships/notesMaster" Target="/ppt/notesMasters/notesMaster1.xml" Id="Rffa9e00a37594f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b548466991493f" /><Relationship Type="http://schemas.openxmlformats.org/officeDocument/2006/relationships/notesMaster" Target="/ppt/notesMasters/notesMaster1.xml" Id="R3a36c3e766ae4f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b5cd6d69b146ec" /><Relationship Type="http://schemas.openxmlformats.org/officeDocument/2006/relationships/notesMaster" Target="/ppt/notesMasters/notesMaster1.xml" Id="Rd8d7aecb7b4d42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caa2f169e2490a" /><Relationship Type="http://schemas.openxmlformats.org/officeDocument/2006/relationships/notesMaster" Target="/ppt/notesMasters/notesMaster1.xml" Id="R613090f9a98548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e7c8d4a0fe42de" /><Relationship Type="http://schemas.openxmlformats.org/officeDocument/2006/relationships/notesMaster" Target="/ppt/notesMasters/notesMaster1.xml" Id="R958572a02ab145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31b66a12af400e" /><Relationship Type="http://schemas.openxmlformats.org/officeDocument/2006/relationships/notesMaster" Target="/ppt/notesMasters/notesMaster1.xml" Id="R9a74ca36327243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3494143a3847a3" /><Relationship Type="http://schemas.openxmlformats.org/officeDocument/2006/relationships/notesMaster" Target="/ppt/notesMasters/notesMaster1.xml" Id="R2decc6e327634a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fa320cea5c45fa" /><Relationship Type="http://schemas.openxmlformats.org/officeDocument/2006/relationships/notesMaster" Target="/ppt/notesMasters/notesMaster1.xml" Id="R81d3fba162a44a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4172982c70489e" /><Relationship Type="http://schemas.openxmlformats.org/officeDocument/2006/relationships/notesMaster" Target="/ppt/notesMasters/notesMaster1.xml" Id="Rf8771d64b3dd4d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ed62fa3cd1442b" /><Relationship Type="http://schemas.openxmlformats.org/officeDocument/2006/relationships/notesMaster" Target="/ppt/notesMasters/notesMaster1.xml" Id="R9faeab9517f848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d0898db2644017" /><Relationship Type="http://schemas.openxmlformats.org/officeDocument/2006/relationships/notesMaster" Target="/ppt/notesMasters/notesMaster1.xml" Id="R7487edb03378437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66eb91bee3f492f" /><Relationship Type="http://schemas.openxmlformats.org/officeDocument/2006/relationships/notesMaster" Target="/ppt/notesMasters/notesMaster1.xml" Id="Rabc0fbd0f8504a5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eca752254914b98" /><Relationship Type="http://schemas.openxmlformats.org/officeDocument/2006/relationships/notesMaster" Target="/ppt/notesMasters/notesMaster1.xml" Id="R55eaa0c3bdf54f0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d22d250fe04e7b" /><Relationship Type="http://schemas.openxmlformats.org/officeDocument/2006/relationships/notesMaster" Target="/ppt/notesMasters/notesMaster1.xml" Id="Re3d07d93eec045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3187ead198a4a08" /><Relationship Type="http://schemas.openxmlformats.org/officeDocument/2006/relationships/notesMaster" Target="/ppt/notesMasters/notesMaster1.xml" Id="R31966cb0e63946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2d7b973ef574be8" /><Relationship Type="http://schemas.openxmlformats.org/officeDocument/2006/relationships/notesMaster" Target="/ppt/notesMasters/notesMaster1.xml" Id="R12d40d0ed8e040d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688ea933a5c4e2e" /><Relationship Type="http://schemas.openxmlformats.org/officeDocument/2006/relationships/notesMaster" Target="/ppt/notesMasters/notesMaster1.xml" Id="R9c8ef661461a473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35cde4722db4fc0" /><Relationship Type="http://schemas.openxmlformats.org/officeDocument/2006/relationships/notesMaster" Target="/ppt/notesMasters/notesMaster1.xml" Id="R0222c61dbc46458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3e8ba31bf5e44ab" /><Relationship Type="http://schemas.openxmlformats.org/officeDocument/2006/relationships/notesMaster" Target="/ppt/notesMasters/notesMaster1.xml" Id="R35cde433612046c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1fb9ba32d944fe" /><Relationship Type="http://schemas.openxmlformats.org/officeDocument/2006/relationships/notesMaster" Target="/ppt/notesMasters/notesMaster1.xml" Id="Reface4a7d9254aa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99a0260e53140b9" /><Relationship Type="http://schemas.openxmlformats.org/officeDocument/2006/relationships/notesMaster" Target="/ppt/notesMasters/notesMaster1.xml" Id="R068768580c6b460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8dae68ac36549ab" /><Relationship Type="http://schemas.openxmlformats.org/officeDocument/2006/relationships/notesMaster" Target="/ppt/notesMasters/notesMaster1.xml" Id="R3ef9a32a4cd1458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a8805a919444646" /><Relationship Type="http://schemas.openxmlformats.org/officeDocument/2006/relationships/notesMaster" Target="/ppt/notesMasters/notesMaster1.xml" Id="R75552ab88f2b4d7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4921b86d2fd4362" /><Relationship Type="http://schemas.openxmlformats.org/officeDocument/2006/relationships/notesMaster" Target="/ppt/notesMasters/notesMaster1.xml" Id="Rfc22e1f5058e400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c0e643d53b94cf1" /><Relationship Type="http://schemas.openxmlformats.org/officeDocument/2006/relationships/notesMaster" Target="/ppt/notesMasters/notesMaster1.xml" Id="R3c2feacc9878458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b131566750946eb" /><Relationship Type="http://schemas.openxmlformats.org/officeDocument/2006/relationships/notesMaster" Target="/ppt/notesMasters/notesMaster1.xml" Id="R27b7847839be410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ed56a3ceee94081" /><Relationship Type="http://schemas.openxmlformats.org/officeDocument/2006/relationships/notesMaster" Target="/ppt/notesMasters/notesMaster1.xml" Id="R08456808e7c7445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3d268d6fedb48b8" /><Relationship Type="http://schemas.openxmlformats.org/officeDocument/2006/relationships/notesMaster" Target="/ppt/notesMasters/notesMaster1.xml" Id="R88aabeea1d4c48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docs/contract-billing-business-rules.md; docs/contract-billing-financial-spec.md; docs/contract-lifecycle-prototype.md. Sources: docs/progress-invoices-prototype.md; docs/contract-invoices-prototype.md; docs/contract-billing-business-rules.md. Sources: docs/change-orders-requirements.md; docs/contract-billing-business-rules.md. Sources: docs/retainage-prototype.md; docs/contract-billing-business-rules.md. Sources: docs/payment-schedule-prototype.md; docs/contract-billing-business-rules.md. 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docs/contract-billing-business-rules.md; docs/contract-billing-financial-spec.md; docs/contract-lifecycle-prototype.md. Sources: docs/payment-schedule-prototype.md; docs/contract-billing-business-rules.md. 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docs/contract-billing-business-rules.md; docs/contract-billing-financial-spec.md; docs/contract-lifecycle-prototype.md.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docs/contract-billing-business-rules.md; docs/contract-billing-financial-spec.md; docs/contract-lifecycle-prototype.md.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docs/contract-billing-business-rules.md; docs/contract-billing-financial-spec.md; docs/contract-lifecycle-prototype.md. Sources: docs/change-orders-requirements.md;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docs/progress-invoices-prototype.md; docs/contract-invoices-prototype.md; docs/contract-billing-business-rules.md. Source: docs/contract-billing-business-rules.md, Standard Invoice conversion.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docs/progress-invoices-prototype.md; docs/contract-invoices-prototype.md;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docs/progress-invoices-prototype.md; docs/contract-invoices-prototype.md;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docs/contract-billing-business-rules.md; docs/contract-billing-financial-spec.md; docs/contract-lifecycle-prototype.md.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docs/progress-invoices-prototype.md; docs/contract-invoices-prototype.md;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docs/progress-invoices-prototype.md; docs/contract-invoices-prototype.md;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docs/change-orders-requirements.md;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docs/change-orders-requirements.md;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docs/change-orders-requirements.md;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docs/retainage-prototype.md;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docs/retainage-prototype.md;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docs/payment-schedule-prototype.md;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docs/payment-schedule-prototype.md;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docs/progress-invoices-prototype.md; docs/contract-invoices-prototype.md; docs/contract-billing-business-rules.md. Sources: docs/change-orders-requirements.md;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docs/retainage-prototype.md; docs/contract-billing-business-rules.md. Sources: docs/payment-schedule-prototype.md;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docs/progress-invoices-prototype.md; docs/contract-invoices-prototype.md; docs/contract-billing-business-rules.md. Sources: docs/change-orders-requirements.md; docs/contract-billing-business-rules.md. Sources: docs/retainage-prototype.md;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docs/progress-invoices-prototype.md; docs/contract-invoices-prototype.md; docs/contract-billing-business-rules.md. Sources: docs/change-orders-requirements.md; docs/contract-billing-business-rules.md. Sources: docs/retainage-prototype.md; docs/contract-billing-business-rules.md.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docs/contract-billing-business-rules.md; docs/contract-billing-financial-spec.md; docs/contract-lifecycle-prototype.md. 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docs/contract-billing-business-rules.md; docs/contract-billing-financial-spec.md; docs/contract-lifecycle-prototype.md. Sources: docs/progress-invoices-prototype.md; docs/contract-invoices-prototype.md; docs/contract-billing-business-rules.md. Sources: docs/change-orders-requirements.md; docs/contract-billing-business-rules.md. Sources: docs/retainage-prototype.md; docs/contract-billing-business-rules.md. Sources: docs/payment-schedule-prototype.md; docs/contract-billing-business-rules.md. Source: docs/quickbooks-online-sync-requirements.md.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bd87ff94cb49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d990df4a4e4593" /><Relationship Type="http://schemas.openxmlformats.org/officeDocument/2006/relationships/slideLayout" Target="/ppt/slideLayouts/slideLayout1.xml" Id="R8e011c312d3247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011c312d3247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5dcd88c3b4e61" /><Relationship Type="http://schemas.openxmlformats.org/officeDocument/2006/relationships/notesSlide" Target="/ppt/notesSlides/notesSlide1.xml" Id="R5fb4a5ab65ac42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a0906098a344b7" /><Relationship Type="http://schemas.openxmlformats.org/officeDocument/2006/relationships/notesSlide" Target="/ppt/notesSlides/notesSlide2.xml" Id="R3ee7717039d34d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b1a3ceebe4553" /><Relationship Type="http://schemas.openxmlformats.org/officeDocument/2006/relationships/notesSlide" Target="/ppt/notesSlides/notesSlide3.xml" Id="R41fa3c2c20a84d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95d77050243e8" /><Relationship Type="http://schemas.openxmlformats.org/officeDocument/2006/relationships/notesSlide" Target="/ppt/notesSlides/notesSlide4.xml" Id="R5546acb100cc4a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71c4ddc1946fe" /><Relationship Type="http://schemas.openxmlformats.org/officeDocument/2006/relationships/notesSlide" Target="/ppt/notesSlides/notesSlide5.xml" Id="Ref9f660cabb540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af05f28024f33" /><Relationship Type="http://schemas.openxmlformats.org/officeDocument/2006/relationships/notesSlide" Target="/ppt/notesSlides/notesSlide6.xml" Id="Rb615a77ff63545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3faff7cb241ae" /><Relationship Type="http://schemas.openxmlformats.org/officeDocument/2006/relationships/notesSlide" Target="/ppt/notesSlides/notesSlide7.xml" Id="R0dc69993a3c844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4c670ce27041f7" /><Relationship Type="http://schemas.openxmlformats.org/officeDocument/2006/relationships/notesSlide" Target="/ppt/notesSlides/notesSlide8.xml" Id="R0a950f3935c049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9dae59fc64ea4" /><Relationship Type="http://schemas.openxmlformats.org/officeDocument/2006/relationships/notesSlide" Target="/ppt/notesSlides/notesSlide9.xml" Id="R3af7c6d8e8124d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39283c9d14da3" /><Relationship Type="http://schemas.openxmlformats.org/officeDocument/2006/relationships/notesSlide" Target="/ppt/notesSlides/notesSlide10.xml" Id="R13329830b22543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1b4d2e07d4bb2" /><Relationship Type="http://schemas.openxmlformats.org/officeDocument/2006/relationships/notesSlide" Target="/ppt/notesSlides/notesSlide11.xml" Id="Rc2c3a7d0f68d4f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a62ca0a714810" /><Relationship Type="http://schemas.openxmlformats.org/officeDocument/2006/relationships/notesSlide" Target="/ppt/notesSlides/notesSlide12.xml" Id="Rc7400277ba104e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9bde317c040e7" /><Relationship Type="http://schemas.openxmlformats.org/officeDocument/2006/relationships/notesSlide" Target="/ppt/notesSlides/notesSlide13.xml" Id="R9ed7516aba0845d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5eca6fb9c4299" /><Relationship Type="http://schemas.openxmlformats.org/officeDocument/2006/relationships/notesSlide" Target="/ppt/notesSlides/notesSlide14.xml" Id="R722e816e88d94c6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d5016ae2c4066" /><Relationship Type="http://schemas.openxmlformats.org/officeDocument/2006/relationships/notesSlide" Target="/ppt/notesSlides/notesSlide15.xml" Id="R3821fe79581d492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963d9c31f451e" /><Relationship Type="http://schemas.openxmlformats.org/officeDocument/2006/relationships/notesSlide" Target="/ppt/notesSlides/notesSlide16.xml" Id="R56be3882b184400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612c297444670" /><Relationship Type="http://schemas.openxmlformats.org/officeDocument/2006/relationships/notesSlide" Target="/ppt/notesSlides/notesSlide17.xml" Id="Rfcf1124b69fa46e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31fa9de9f472e" /><Relationship Type="http://schemas.openxmlformats.org/officeDocument/2006/relationships/notesSlide" Target="/ppt/notesSlides/notesSlide18.xml" Id="Rdb5aab77e6094cb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b292f2f944348" /><Relationship Type="http://schemas.openxmlformats.org/officeDocument/2006/relationships/notesSlide" Target="/ppt/notesSlides/notesSlide19.xml" Id="Re82f381e53c442d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178ad29414731" /><Relationship Type="http://schemas.openxmlformats.org/officeDocument/2006/relationships/notesSlide" Target="/ppt/notesSlides/notesSlide20.xml" Id="R28ba328fb47041c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d4e6aa2844322" /><Relationship Type="http://schemas.openxmlformats.org/officeDocument/2006/relationships/notesSlide" Target="/ppt/notesSlides/notesSlide21.xml" Id="Ra24055231e114ca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1934c72a7f42b5" /><Relationship Type="http://schemas.openxmlformats.org/officeDocument/2006/relationships/notesSlide" Target="/ppt/notesSlides/notesSlide22.xml" Id="Rc64ae8713a3248f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b94535d1f3483f" /><Relationship Type="http://schemas.openxmlformats.org/officeDocument/2006/relationships/notesSlide" Target="/ppt/notesSlides/notesSlide23.xml" Id="R3d42a591079644b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eeebb3a484a80" /><Relationship Type="http://schemas.openxmlformats.org/officeDocument/2006/relationships/notesSlide" Target="/ppt/notesSlides/notesSlide24.xml" Id="Rdf2cdeec471849e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e7c410dcd4801" /><Relationship Type="http://schemas.openxmlformats.org/officeDocument/2006/relationships/notesSlide" Target="/ppt/notesSlides/notesSlide25.xml" Id="R2d7ecc1867b443d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2946a880944cea" /><Relationship Type="http://schemas.openxmlformats.org/officeDocument/2006/relationships/notesSlide" Target="/ppt/notesSlides/notesSlide26.xml" Id="R5fe593990bdf410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02fe70e5b4b00" /><Relationship Type="http://schemas.openxmlformats.org/officeDocument/2006/relationships/notesSlide" Target="/ppt/notesSlides/notesSlide27.xml" Id="R52c25e5154eb439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e048cc4e644eb" /><Relationship Type="http://schemas.openxmlformats.org/officeDocument/2006/relationships/notesSlide" Target="/ppt/notesSlides/notesSlide28.xml" Id="R5c8ab0bf65c34b8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d438f5ffc4d19" /><Relationship Type="http://schemas.openxmlformats.org/officeDocument/2006/relationships/notesSlide" Target="/ppt/notesSlides/notesSlide29.xml" Id="Redb99df1ff4946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690A3-726F-4767-B613-7D5F7D65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1B1FF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91B1FF"/>
                </a:solidFill>
                <a:latin typeface="Segoe UI"/>
                <a:ea typeface="Segoe UI"/>
                <a:cs typeface="Segoe UI"/>
              </a:rPr>
              <a:t>DEV HANDOFF REQUIREMENTS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F34C2-9782-4474-B585-57D067AA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714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40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Contract billing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40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business logic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7217A-0D63-4ABF-B928-25628C74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Standard Invoice, Progress Invoice, Change Orders, Retainage, Payment Schedule, and QuickBooks Online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48654-E021-4D7C-9364-61D316C5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516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06364-DC0D-45E4-996B-3295A4AE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Canonical handoff  /  September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208D8-DBED-4F67-A1D1-04FA4497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DB0C1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DB0C1"/>
                </a:solidFill>
                <a:latin typeface="Segoe UI"/>
                <a:ea typeface="Segoe UI"/>
                <a:cs typeface="Segoe UI"/>
              </a:rPr>
              <a:t>Business rules for product, design, engineering, QA, and AI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A0DA8-4EB1-4216-B5E6-9B0D0473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C5D4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B7C5D4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19799A-1511-4257-B436-2E5E855A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7C5D4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B7C5D4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241764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463333-C207-40A9-997A-EDABD92A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848BC-FE71-492D-ACC8-49B0A11B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System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30796-A622-4754-8771-1E9DD33E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03EDF-CE35-4D52-A8D7-A8DC5FA6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1054B7-984D-448A-B828-75EA6132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D3A7E-CE6B-4699-AAC3-985CDDC0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800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One contract model supports tracked billing from Estimate acceptance onward.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AAAB8-D3AE-4159-91F2-ADAF1ABD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Standard Invoice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236D6-A51B-4F15-BFB5-461FBB34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Copies an Estimate into an independently editable Invoice.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0EAC3-0A8E-49C4-9DF3-243C5B09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A5FF26-CC8F-4484-8C7B-3C73E872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Progress Invoice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1BA04C-BB7C-4D68-913C-FA02C034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Bills accepted Contract scope and tracks completion.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A7AA0-AA08-4591-8258-CB7BF0D0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3B1B24-0D73-4E04-A553-50695337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Change Order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1A44F7-AC2D-4151-ABC0-1BE4AA1F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Revises the current Contract while preserving history.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354E92-195A-473D-BD29-308F9EEA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Retainage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BAED82-2B98-4366-A5C1-F71D4F8C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908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Withholds part of an Invoice and releases it later.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57440B-8CD4-4D75-AD35-BC8B6053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813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317132-59B0-4637-BEF6-9A9BB18E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71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Payment Schedule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E78F75-C567-4CA2-B3E2-CE1F164F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Plans milestones without creating or reserving scope.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160E7B-8F17-4846-993D-E9548CC7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2862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118A5D-F20D-48ED-AEB3-531A9703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4767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QuickBooks Online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BE1DFD-4E66-448B-8105-358A0B32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8006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Receives accounting documents, not Contract logic.</a:t>
            </a:r>
          </a:p>
        </p:txBody>
      </p:sp>
    </p:spTree>
    <p:extLst>
      <p:ext uri="{BB962C8B-B14F-4D97-AF65-F5344CB8AC3E}">
        <p14:creationId xmlns:p14="http://schemas.microsoft.com/office/powerpoint/2010/main" val="6057715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3F7490-0A03-45D2-9536-EC9164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SHARED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8CD71-20B2-49FA-AE4A-46B30031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Canonical Contract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BCDF7-27DC-469D-AD0C-00F4B7C8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A2BE56-C570-4886-A5CF-15E33371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C3F9E3-DE79-410C-8D48-8DCAB4A1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0BB547-C188-468A-89A8-37AF8204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An Accepted Estimate establishes the Contract. Accepted Change Orders revise the same Contract.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11052-D80E-42F2-A6B4-6ECA573B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476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364AD3-8588-4E1F-B317-6F8AA8E1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Accepted Estimate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4013-8A7C-49FB-8201-97B566CB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907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42638"/>
          </a:solidFill>
          <a:ln xmlns:a="http://schemas.openxmlformats.org/drawingml/2006/main" w="9525">
            <a:solidFill>
              <a:srgbClr val="14263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13178F-8270-4796-AE7D-E270DD21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4765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30EE3-69C7-48D7-867D-DD428381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146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Accepted source scope</a:t>
            </a:r>
          </a:p>
          <a:p xmlns:a="http://schemas.openxmlformats.org/drawingml/2006/main">
            <a:pPr algn="ctr">
              <a:defRPr sz="1275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Billing history</a:t>
            </a:r>
          </a:p>
          <a:p xmlns:a="http://schemas.openxmlformats.org/drawingml/2006/main">
            <a:pPr algn="ctr">
              <a:defRPr sz="1275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Contract-level pools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F45EF-B70A-4E70-83C6-116D25B9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33650"/>
            <a:ext cx="2095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9525">
            <a:solidFill>
              <a:srgbClr val="D4762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E74C4-4F32-4FAE-BAB2-EBA1A7B7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813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Accepted COs</a:t>
            </a:r>
          </a:p>
        </p:txBody>
      </p:sp>
      <p:cxnSp>
        <p:nvCxnSpPr>
          <p:cNvPr id="34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3276600" y="3000375"/>
            <a:ext cx="1581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6FED"/>
            </a:solidFill>
            <a:tailEnd type="arrow" w="med" len="med"/>
          </a:ln>
        </p:spPr>
      </p:cxnSp>
      <p:cxnSp>
        <p:nvCxnSpPr>
          <p:cNvPr id="35" name=""/>
          <p:cNvCxnSpPr>
            <a:stCxn xmlns:a="http://schemas.openxmlformats.org/drawingml/2006/main" id="12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 flipV="1">
            <a:off x="7715250" y="3000375"/>
            <a:ext cx="1581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4762C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56AE8-1307-4E5A-9B29-43752145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4953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B0195A-707A-46D3-BF8D-C8BAF705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Before any Accepted CO: Contract equals Accepted Estimate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F20C84-D8E9-4127-93D5-E79DAAC9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62450"/>
            <a:ext cx="4953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2E4C71-50D5-4698-BB65-6F6DAF48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76750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After acceptance: each CO revises the existing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3B3ABA-955E-47AD-B3C4-31B1D7AD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911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No ledger reset. No history migration. No Estimate-to-CO item mapping.</a:t>
            </a:r>
          </a:p>
        </p:txBody>
      </p:sp>
    </p:spTree>
    <p:extLst>
      <p:ext uri="{BB962C8B-B14F-4D97-AF65-F5344CB8AC3E}">
        <p14:creationId xmlns:p14="http://schemas.microsoft.com/office/powerpoint/2010/main" val="1924060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D5119-7E36-4FF4-8489-97B906A9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SHARED CONCEPTS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BE6E3-8084-475E-82DA-3CA5BADD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Shared financial measures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CBF210-D62D-4BA8-9F94-FCE937A7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2BF59-B203-4980-92AD-366C570F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FCCB8-4E45-46A5-8717-59C773A3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38375"/>
                <a:gridCol w="5305425"/>
                <a:gridCol w="3429000"/>
              </a:tblGrid>
              <a:tr h="58510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Measure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meaning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Includes / excludes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Contract subtotal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Aggregate accepted pre-discount source scope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Estimate plus Accepted CO changes and Cost Plus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Contract Value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Current accepted economic value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Contract subtotal less accepted Contract discount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Previously invoiced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Posted tracked billing before the current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Draft reservations excluded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Remaining subtotal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Gross Contract scope still available in creation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Posted allocations and active Draft reservations excluded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Contract Progress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Posted gross scope divided by current gross scope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Discount, tax, retainage, and payments excluded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Discount Pool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Contract discount still available to apply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Kept separate from Remaining subtotal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CA3EF0-0475-4FB5-9F46-75C0C259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Remaining subtotal answers how much underlying scope remains. The Discount Pool answers how much discount remains.</a:t>
            </a:r>
          </a:p>
        </p:txBody>
      </p:sp>
    </p:spTree>
    <p:extLst>
      <p:ext uri="{BB962C8B-B14F-4D97-AF65-F5344CB8AC3E}">
        <p14:creationId xmlns:p14="http://schemas.microsoft.com/office/powerpoint/2010/main" val="9736816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A498B2-1B5E-44F3-8EFB-B85D67A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SHARED CONCEPTS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4A7FD-66DF-43C3-A0F6-FDB5BF4D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Contract billing and document lifecycle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20BD1-A18E-4BAC-B037-8ACC9477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5B331-40BD-40E5-8C14-44DA51E1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65CE5-79C0-45AA-825B-2C0B49CC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9FFDF-8488-48DE-8386-40BF73E4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Billing status belongs to the current Contract.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83254-3796-4A12-82A5-AEB5FBF1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184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03320-7C66-40B7-BBCB-F3C27328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917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Accepted</a:t>
            </a:r>
          </a:p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No posted tracked billing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1F3956-8E0E-4EC5-80C0-A295F0C3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650" y="2190750"/>
            <a:ext cx="2184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0003A-80BC-4D7A-9C84-2EA4F810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305050"/>
            <a:ext cx="1917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Partially Billed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Posted billing and scope remains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7BE883-88AD-40B7-BF9E-D0E0587A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0" y="2190750"/>
            <a:ext cx="2184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88052-D872-42BC-9BDB-CEEC0876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7050" y="2305050"/>
            <a:ext cx="1917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Billed</a:t>
            </a:r>
          </a:p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Posted billing and no scope remains</a:t>
            </a:r>
          </a:p>
        </p:txBody>
      </p:sp>
      <p:cxnSp>
        <p:nvCxnSpPr>
          <p:cNvPr id="41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794000" y="27241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42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226050" y="27241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04D6C-F4C1-44BA-8C2A-7810E89B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 positive Accepted CO can move a Billed Contract back to Partially Billed.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D40D73-51B3-4CAF-B0E2-E04FD64D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4950"/>
            <a:ext cx="3352800" cy="4114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C07D44-28F1-474A-ADFB-1EBAA31A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771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Change Order lifecycle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60F303-01C0-4033-B83D-84ECCA50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00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7E928-88EF-4626-939C-73FA373B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247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Draft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D3DC34-8F23-4403-A323-719CB45E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3A56D7-DC78-4F00-AECA-43C97B53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2247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Pending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E92E10-0444-4B06-ACE6-E4EC008D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71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5AA147-4B5E-4576-8B78-43F25DF4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14700"/>
            <a:ext cx="2247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Accepted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8A3140-7710-4A03-952B-94176EA4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57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03A44E-7017-4345-AEDD-7FDEE7AC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00475"/>
            <a:ext cx="2247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Declined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D7972B-89B9-476C-9832-63AB00CC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64A000-CEB1-4B1F-B75B-B22247F9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86250"/>
            <a:ext cx="2247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Canceled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8E8283-A8D3-4B72-BE30-9CF1866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914900"/>
            <a:ext cx="2724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Acceptance remains a fact even when a surface shows the Contract billing status.</a:t>
            </a:r>
          </a:p>
        </p:txBody>
      </p:sp>
    </p:spTree>
    <p:extLst>
      <p:ext uri="{BB962C8B-B14F-4D97-AF65-F5344CB8AC3E}">
        <p14:creationId xmlns:p14="http://schemas.microsoft.com/office/powerpoint/2010/main" val="17619410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B50B98-A57E-487C-8A27-429AB87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HAPPY 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352C4-50C7-402F-B3B5-A3EB762F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Standard Invoice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2E2B7-0974-47C4-B8B5-C4A356BA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CE225-BBB3-452D-A68E-C7C0D47C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725693-BCE9-4CB4-8935-18288EA2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0AE82-129E-4029-ABCD-C79D1680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Simple copy and conversion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84A39-AF26-4085-8B3C-DF30D4DE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500313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86032-A290-412D-AB37-6843BECE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233613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Estimate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9D895-E896-4922-B3F5-07B50DA3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266950"/>
            <a:ext cx="2500313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721D3-CB8F-4EDA-BB33-48E52565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381250"/>
            <a:ext cx="2233613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Copy to Invoice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46B8B-89AE-4E81-ADA1-D0CA06EB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266950"/>
            <a:ext cx="2500313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9DCCB-40F5-48A2-B62E-606DB9A6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381250"/>
            <a:ext cx="2233613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Editable Standard Invoice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A74BCF-1DC1-4154-8184-67C863CA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2266950"/>
            <a:ext cx="2500313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4E4D4-4F5E-425A-A462-69B20307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5438" y="2381250"/>
            <a:ext cx="2233613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Estimate Billed</a:t>
            </a:r>
          </a:p>
        </p:txBody>
      </p:sp>
      <p:cxnSp>
        <p:nvCxnSpPr>
          <p:cNvPr id="46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09913" y="26955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47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34076" y="2695575"/>
            <a:ext cx="323849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48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58238" y="26955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E81FFC-7872-45BD-AD56-5FE5C6DC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Uses existing Standard Invoice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52D0B6-A5BF-45BB-9CDF-157E17F7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3C8052-E64F-44DB-A601-67BFCE49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Copied lines can change under existing rules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199A0A-6B57-4E51-AE76-1180C610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359B0C-DA28-4A8D-BFC4-8C972D2C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Saving the Draft creates the conversion lock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566C4E-CC58-4D1C-BF4C-53A5C86D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4D3C2D-348C-46FB-BC5A-E9A4ABA9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Deleting or canceling removes that lock when allowed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A21451-0168-4E90-8AD3-A19AF696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95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Separate from tracked Progress billing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37265-8FC9-432F-8A44-6532F86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4E4E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4BB93D-FAAC-4DCC-8D0B-B749596E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 Contract Progress allocation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E52740-F5DF-4781-B303-8C082483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62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4E4E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478E60-C0D9-4794-96F0-7AE8BAE6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 source-line Progress ledger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EFB9E7-2DE2-4BDB-86DD-1BE8B674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295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4E4E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B94249-A1A9-4462-87DE-80155FDF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472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 milestone or Retainage Release behavior</a:t>
            </a:r>
          </a:p>
        </p:txBody>
      </p:sp>
    </p:spTree>
    <p:extLst>
      <p:ext uri="{BB962C8B-B14F-4D97-AF65-F5344CB8AC3E}">
        <p14:creationId xmlns:p14="http://schemas.microsoft.com/office/powerpoint/2010/main" val="11611179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1FB996-1520-461E-82BA-3D83197C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HAPPY 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6B9C09-8AAA-47D7-B248-B0467035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Progress Invoice happy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675C2-949B-48C6-9747-8BA12AA5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37655-0F6C-4303-AC57-5C079B69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A79B0E-A7F2-44FF-BC66-9CB7F0E7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45C695-0F45-4218-97A5-44E8A538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201168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F4C1EA-8C02-49F8-8C69-B347CD80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81200"/>
            <a:ext cx="174498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Accepted Estimate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AEBA2D-FD80-4BF2-B908-7A65ADC5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1866900"/>
            <a:ext cx="201168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3DB22-8FCB-4F06-9D46-77FCD1EF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3230" y="1981200"/>
            <a:ext cx="174498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Contract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6F9FC1-F9D4-41A5-AFEE-9365F458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1866900"/>
            <a:ext cx="201168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D6BAF-5025-4057-B7C5-CE0E2BD1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510" y="1981200"/>
            <a:ext cx="174498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Progress Invoice Draft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35C3E-DE77-46A2-AF43-3932B39F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1866900"/>
            <a:ext cx="201168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E619C1-5D3B-4373-82E1-4E9DD273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3790" y="1981200"/>
            <a:ext cx="174498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Open Invoice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192B5B-D448-4EBB-8F4F-C8BE7C4A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1866900"/>
            <a:ext cx="201168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11D67A-CE54-4C43-823B-7828467A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4070" y="1981200"/>
            <a:ext cx="174498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Contract state updated</a:t>
            </a:r>
          </a:p>
        </p:txBody>
      </p:sp>
      <p:cxnSp>
        <p:nvCxnSpPr>
          <p:cNvPr id="5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21280" y="2295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5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861560" y="2295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01840" y="2295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42120" y="22955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C0E3DA-F23B-4E64-8DE8-4889967F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Draft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3DAA68-85C6-41D4-84C3-8D005026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F1EE82-9556-4A28-A12A-E22BBBBA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Reserves selected source scope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FEA2BE-CDB6-4DD1-B171-715A4947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B1D43A-B762-424A-A510-BDC4DEB7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Reserves selected discount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24CFF5-98A1-40CB-9D8C-B7A42B79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F07DE7-516F-410E-A48A-91E6238D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434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Does not increase posted progress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6147E7-A3DC-4DCB-9CB5-38836E26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337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7A52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F7A52"/>
                </a:solidFill>
                <a:latin typeface="Segoe UI"/>
                <a:ea typeface="Segoe UI"/>
                <a:cs typeface="Segoe UI"/>
              </a:rPr>
              <a:t>Open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9E4D0-C5C2-40B7-B3A2-696D2053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48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2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5D620B-932B-4E52-B6E3-FFBDC9D3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Consumes the reservation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5A6852-AABE-4154-B2E4-26880CB7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43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A2A4BB-CCCC-47CD-9E76-8717C912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862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Updates Previously invoiced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9853BC-5D9D-41F1-9DC8-BD238CD8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838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52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F0D842-40E3-4AFD-B2A6-4B6D223B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815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Updates Remaining subtotal and billing state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BF8A51-CC9D-44C1-B20C-AAFB50E0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FD6DA4-D319-4ADB-9EBF-C0B9B7D6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15000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Progress always belongs to the Contract, including the first Invoice before any CO exists.</a:t>
            </a:r>
          </a:p>
        </p:txBody>
      </p:sp>
    </p:spTree>
    <p:extLst>
      <p:ext uri="{BB962C8B-B14F-4D97-AF65-F5344CB8AC3E}">
        <p14:creationId xmlns:p14="http://schemas.microsoft.com/office/powerpoint/2010/main" val="7786762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321E08-EEC6-4827-9D0F-FE6C7758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PROGRESS INVOICE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2263A-5E39-45A8-BDD3-E338AE8D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Progress Invoice creation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BDBD0-405B-4EC2-8355-CE86C5CF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B58FA-B141-4A56-80E6-5E49380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F81A31-D833-4C4D-8A5D-E2641B87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3B3A5-93EA-4A94-AAD5-10D88505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Supported paths use the same Contract availability rules.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633E9-766D-44FD-A2B0-710F74ED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D3EC7-DB02-4894-B3F3-508B8F66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Full remaining Contract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0D395-007C-402D-A1F2-48555E6D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Bills all eligible remaining source scope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732F78-4A45-4ADA-891E-95E8EB65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68E023-59EB-4123-B0DE-BF71AC03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15E241-F26B-4D3C-A9FB-E59B5CA0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33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Percent or amount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27067A-D6DA-4F77-B28E-E3BDD2B0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Allocates a portion within Contract limits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513066-BCD2-467C-A8E3-AC47CF39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861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94F308-A2E1-43C7-AAB0-B000D96F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A4EEE1-9407-48C9-B3B8-DCE6D39A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14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Select source lines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9DEF34-2EB4-4540-A024-91D2429F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1475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Bills selected eligible lines up to their remaining amount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0C2BD1-1AE9-4498-A1B2-08D3725C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556929-1BFF-4712-89F9-57B531CB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239E93-DFE8-438F-AFC9-465F6CED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95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Payment milestone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88E85-493E-4AB5-BBAC-AE2DAD06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958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Uses planned context without bypassing availability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B54D60-FB02-4832-AF84-ED71390E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6F4F1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DB5D0F-3302-4CAA-828B-71B0FAAE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1059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Remaining subtotal = gross Contract scope left after posted allocations and active Draft reservations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433FFB-BC1E-43BF-AAD3-F930CFBE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The Discount Pool remains separate.</a:t>
            </a:r>
          </a:p>
        </p:txBody>
      </p:sp>
    </p:spTree>
    <p:extLst>
      <p:ext uri="{BB962C8B-B14F-4D97-AF65-F5344CB8AC3E}">
        <p14:creationId xmlns:p14="http://schemas.microsoft.com/office/powerpoint/2010/main" val="7938986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6115C6-3034-4853-B905-ED28FF58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PROGRESS INVOICE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337664-EC6E-4A45-88FE-C894E943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Source-line lineage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D129A-0529-4A62-B6F4-12166F29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09043-AB26-40B5-A18D-AE15CFC3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55C6EF-0D39-4254-9EB1-F0D6F59F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D4944-FA4F-4A2E-9E35-A5B5E9C3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The Contract aggregates scope without flattening its origin.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AA966-69E6-4AA2-B946-E11369DD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7F8D1-6F41-40F9-A994-48015EDC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Estimate #1008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60B4E9-D641-4629-8A8E-5666A6D9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2571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Original source lines</a:t>
            </a:r>
          </a:p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Posted allocations stay here</a:t>
            </a:r>
          </a:p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Remaining amount stays traceable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07960-CD0A-4B52-8C8D-0706DB3E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419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+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3FAAAE-9893-42D9-AFB6-A2EB2BE1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9525">
            <a:solidFill>
              <a:srgbClr val="D4762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7D76A-6FC8-4A9A-A85D-E27CFCF1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336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CO #1008-CO1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7AD470-ADC3-4798-BF3C-7A972A8F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571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Added or removed scope</a:t>
            </a:r>
          </a:p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Independent source identity</a:t>
            </a:r>
          </a:p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 forced mapping to Estimate lines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0A4839-23E4-41A3-B4CD-5664DA61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009900"/>
            <a:ext cx="419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=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3BE7BF-9F48-4DC4-8FFB-A3CF4A12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86000"/>
            <a:ext cx="3238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2638"/>
          </a:solidFill>
          <a:ln xmlns:a="http://schemas.openxmlformats.org/drawingml/2006/main" w="9525">
            <a:solidFill>
              <a:srgbClr val="14263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6E850-C54E-437E-B85A-592EB3EC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Contract aggregate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148979-0A4B-49CB-B763-F62F3219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48000"/>
            <a:ext cx="27241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Current accepted scope</a:t>
            </a:r>
          </a:p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Overall availability</a:t>
            </a:r>
          </a:p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Contract Progress and pools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24652F-1ACF-4183-B403-F432929E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Contract revisions never rewrite historical invoice allocation.</a:t>
            </a:r>
          </a:p>
        </p:txBody>
      </p:sp>
    </p:spTree>
    <p:extLst>
      <p:ext uri="{BB962C8B-B14F-4D97-AF65-F5344CB8AC3E}">
        <p14:creationId xmlns:p14="http://schemas.microsoft.com/office/powerpoint/2010/main" val="10096165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6C9026-A905-456E-8F37-45CA928D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F621D-D668-42E5-9590-DBF148D8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Progress Invoice frontend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CD8E7-48B3-47FC-923B-A6EB35E3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7A9D4-8833-4E96-9FA3-F1EC992B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A2075-BDD4-40A2-BD37-E59A9962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215D54-3FB5-42A5-B040-FD15E84A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Creation and editing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667268-A030-412A-99D0-BF810737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72BC0-86F3-403D-8B34-558AD1C4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Use current Contract scope in the creation prompt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BC8DD-C676-49AE-89CB-398CA797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1B5E6F-F7C5-4DB0-9CCB-E1E4F0FE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Show Remaining subtotal before discount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D036B9-20D9-4866-AFC6-A2A89D57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8AD33-4D3A-4FE7-91A5-F0B1333A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Keep Discount Pool selection separate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2BAC3-E318-4AF4-BB98-8A0C00A5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A1B38B-4018-4724-A2FC-617C1812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Group Estimate and CO lines when COs exist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045A9A-17AF-41D4-95C5-64433F2C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B2A3FA-A40A-47B9-B34C-9A56952C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Keep Cost Plus computed and locked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2E2252-0477-47D8-A6A6-9C84190A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04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State and controls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B0B165-80EC-4C2C-8650-57D4C05F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95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14BA2A-F9D3-4DB8-99F0-8641B7E3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Expose Draft reservation and one-Draft limit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8C6B0B-4216-4ED0-ACF5-73729555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06D7D3-A0F5-4A80-82AA-86F01C4D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Lock prior invoices under existing chronology rules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AB70D-3108-4F6C-8CE2-3B943ADE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C1179B-39FB-4F7C-A303-60E78782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575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Show Contract Progress and billing status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FF5F55-2D11-4D77-A8B3-8D5EAC81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24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8EED17-B551-43AD-B96B-9987928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671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Prevent billing beyond Contract and line availability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96F042-F711-4263-9465-4525ECDA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33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965AF8-2C26-405E-9DA0-E5DD20C2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7675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Preserve linked history and explicit navigation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2CFFDB-28FF-4819-9237-0CCA5708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5E07DB-2B9C-4AC6-92EB-53EFBA8D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Unsaved Invoice states do not show PDF preview or Customer web preview actions.</a:t>
            </a:r>
          </a:p>
        </p:txBody>
      </p:sp>
    </p:spTree>
    <p:extLst>
      <p:ext uri="{BB962C8B-B14F-4D97-AF65-F5344CB8AC3E}">
        <p14:creationId xmlns:p14="http://schemas.microsoft.com/office/powerpoint/2010/main" val="1039695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022E66-9D97-42E0-9162-5E6C983D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CUSTOMER WEB LINK AND PDF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696636-F8CD-4331-8AB1-E5C1896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Progress Invoice customer 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ACFBE-3701-441A-9ECB-CA6BDA41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6033E-9C83-48DB-B278-96D9F6FA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AC542-667C-4977-B38F-21A2016D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7009F-4756-42F6-B521-62AF196F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Web link and PDF carry the same business information.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E0D9DF-9B03-4B09-8ACA-7B56A906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Items table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E4FF3-1F2E-41CF-91FC-7EB9A253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CFE0B9-ED53-4AC6-9823-6E3AF5E2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91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Contract Amount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FCB15-78A2-48C3-8B76-D89D7D84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F5D9D-0365-454B-A4DD-F6CEECCF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91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Previously Billed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F7D965-F79B-442F-8016-3F053A22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52E6F1-158B-4698-9A5B-6B530565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91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This Invoice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F6AC2-A107-4069-94C7-3B9D5E13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1F76DC-A374-45FC-93AE-2D50DF03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33850"/>
            <a:ext cx="291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Balance to Finish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42A940-2DF1-4C5E-9C52-4E67AF14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74B21D-71EF-49E9-B2EC-0DEFAFCE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291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Line completion when required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C25621-66D2-4EE3-976B-C3F5217E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526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Presentation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66C079-96EC-4BD2-BB95-31A4EFD6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AF18C-7253-438A-B77B-7281673E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79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Preserve item descriptions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2D280D-30DE-4BFD-97B2-C6A10795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00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430E76-CA03-4174-B77F-DDAAA2E6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432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Emphasize billed rows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560163-4B93-4ACC-85FB-E6DEA006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95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8299CB-632B-4D8C-A8E8-47EB8C5A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385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Hide or soften unbilled rows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2454D-68DF-4B63-B9A4-882A47AC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D85805-9DA4-4C66-8875-D78FC96D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338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Hide fractional quantities where required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9A6E03-B65F-4089-AEFD-D868D9EE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86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438CAC-9550-4D9C-8A92-2A5454B7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291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Exclude internal ledger mechanics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C660BA-9848-43E0-B890-D92130E8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526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Cost Plus and totals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4C0CA8-986A-466E-8B5A-ED935D6A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05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B11664-03A8-4A45-9C67-A624D78E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479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One aggregate Cost plus fee 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FA0AD5-DE4F-4ECC-B344-70FF5137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00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07C633-90A6-44A4-9F63-154E0748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432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Description shows the percentage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43492E-EA5A-4475-AD27-38F8BF31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95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DC7FD0-7EEB-48C0-841B-4218AE2F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385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Place before subtotal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6613DA-520B-46A7-8DE2-DE5568D2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7DB8DD-2240-4496-918B-5B0FA0A8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338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Include fee in subtotal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C86421-6D1B-4FC4-A10A-7561A951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86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9C72F0-E8FB-4435-8989-943D7D3D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Do not duplicate it in totals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C84F83-A9F6-44AF-B5DE-23174AB8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E61A45-5B31-4385-ABE1-3AE558D5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Tax, discount, Cost Plus, and retainage appear only when applicable. Zero-value placeholders stay absent.</a:t>
            </a:r>
          </a:p>
        </p:txBody>
      </p:sp>
    </p:spTree>
    <p:extLst>
      <p:ext uri="{BB962C8B-B14F-4D97-AF65-F5344CB8AC3E}">
        <p14:creationId xmlns:p14="http://schemas.microsoft.com/office/powerpoint/2010/main" val="20512039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339730-EDD3-4CE5-8642-F45F28B6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HAPPY 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B4062-3C00-40B7-BCFB-785D3280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Change Order happy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7FFFA-2961-4737-97F3-01E84999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49194-3D6D-4C6A-9055-C61A8FBE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14CA1-883F-4EC9-B5E2-EF1A7FF9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DCE5F-3920-430B-A38C-6A20C0D4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4B6DE-7662-4E5C-A583-9C105FC4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Current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83D9E-99EA-430F-9405-609AE8FE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19050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E1CA4E-2A74-41A3-BEB5-CA31E70F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3230" y="20193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 Draft or Pending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93C320-8E49-4A75-8DD5-2D3560CA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19050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4315B-C460-4C1D-A7D4-05DB51DA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510" y="20193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Accepted CO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FA568-F15D-4668-A72B-022B2C2F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19050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4F0364-EABA-467C-9959-5FBCABB8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3790" y="20193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Contract revised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4E1BD5-EAC9-4203-8763-CF99E7BB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19050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40A562-B396-4BC4-B4E4-B7505CC9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4070" y="20193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Future Progress Invoice</a:t>
            </a:r>
          </a:p>
        </p:txBody>
      </p:sp>
      <p:cxnSp>
        <p:nvCxnSpPr>
          <p:cNvPr id="5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21280" y="23431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861560" y="23431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01840" y="23431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5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42120" y="23431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CB55B-AB31-49B9-BB25-938B4DBF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Acceptance updates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2563C5-5574-4C59-BC2B-2BFAF82B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6967D7-B0D0-474F-81C8-A4EC737D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Accepted source scope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2336C6-F9EE-4D4C-B9DB-D05D68B8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DCF80D-9C19-4A0C-B53D-E25E1936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Contract totals and applicable pools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2734A4-3C3C-4522-A230-B56B6FDC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915565-6D51-4A7E-A69E-072F59C9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Payment Schedule projections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1FF239-8BC1-41A1-81ED-C33963DB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2EA8F9-3927-41AE-88E1-13E2B26B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Contract billing status when scope reopens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04E591-D74A-4FEC-BF91-0E015D8A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718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Acceptance preserves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9825E0-0213-412B-9442-19599959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6F8265-E7CE-4D74-A530-41C43074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Posted Invoice history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561B8D-9064-4A1A-A9B5-C20A3DDB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649510-81E4-4A0B-A81F-08E05108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0055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Original source allocation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82E356-D8FE-48A5-963C-1C6B2546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72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F3897C-6ACB-4786-930D-58AF2350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1490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Prior Contract Progress history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08D5D0-11D5-4661-BC67-F68703D7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486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97BAC2-19C4-42C2-98BC-2871A843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2925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Separate CO approval history</a:t>
            </a:r>
          </a:p>
        </p:txBody>
      </p:sp>
    </p:spTree>
    <p:extLst>
      <p:ext uri="{BB962C8B-B14F-4D97-AF65-F5344CB8AC3E}">
        <p14:creationId xmlns:p14="http://schemas.microsoft.com/office/powerpoint/2010/main" val="11704587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059977-F06A-4E28-ABC8-F2756CD4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CHANGE 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A870C-6568-489D-8DEB-E949C8B8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Change Order state and Contract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889D0-FF6A-448A-B5BC-6D0BD1DF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34FC0-023F-4D5C-95AD-9C8F269B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BF25E-1727-4984-B07F-D01F1217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460A8-FA2B-4378-AFB8-86DCB785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Draft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382BC-8556-4505-8E07-148FDDF2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Proposed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84016F-F2C1-418F-8FFB-4C6BAC6D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192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Editable under existing locks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C75FF-B15D-464A-856A-5DF2A8C6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9639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7B79F-4E5E-43EC-8299-2FC3419B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Pending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965357-1078-424D-9FD1-E221A0BE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622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Proposed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A46814-F70B-4A51-A022-BFA755BD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622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Awaiting acceptance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A0E82F-012C-440F-A1A9-7280779C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9639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41BA5D-AB7E-43E0-A4F6-5879BFC0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Accepted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23629-6731-4EE3-BBA9-4E68E91D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051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Included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EC7178-543E-4CF4-AE71-1CBF8EB4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051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Financially immutable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6DB82C-1C5E-4181-A55A-A1484B17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9639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A6C5B-6F87-421E-A9C6-29C3F68A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Declined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796D58-F01D-4C90-A6B9-04190372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48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DCE13A-A910-4DC0-A8A6-908D419E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8481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Historical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11363F-7730-4F0B-9F64-75901487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9639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0921A4-6DB9-41B3-8271-B77802DD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Canceled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D6E605-87F8-4DCD-A079-A40ABE9D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910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8349BA-5922-4061-9278-790F84E5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5910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Historical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42121F-5189-415A-9D7A-2EC56C96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619250"/>
            <a:ext cx="1219200" cy="34671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87EE0A-424A-453C-AF8E-C076EDD9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514600"/>
            <a:ext cx="95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CO</a:t>
            </a:r>
          </a:p>
          <a:p xmlns:a="http://schemas.openxmlformats.org/drawingml/2006/main">
            <a:pPr algn="ctr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approval</a:t>
            </a:r>
          </a:p>
          <a:p xmlns:a="http://schemas.openxmlformats.org/drawingml/2006/main">
            <a:pPr algn="ctr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state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2081BB-4B3C-4B50-90FB-ADFEA559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B197D6-5332-4856-BFBC-BB9D5155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76900"/>
            <a:ext cx="1059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Contract billing status can change after CO acceptance. CO lifecycle history remains intact.</a:t>
            </a:r>
          </a:p>
        </p:txBody>
      </p:sp>
    </p:spTree>
    <p:extLst>
      <p:ext uri="{BB962C8B-B14F-4D97-AF65-F5344CB8AC3E}">
        <p14:creationId xmlns:p14="http://schemas.microsoft.com/office/powerpoint/2010/main" val="21403014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C6C97A-B0D3-42E6-858F-FDB10313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FRONTEND AND CUSTOMER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501E9-178E-4233-BCB2-2443ABC9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Change Order document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339B75-9D04-4672-8B65-44233FB9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EB053-F4B1-4983-84F0-E4E7B20F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441626-912E-47CC-9F6C-F2DBD20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01202-CA0A-4264-8C50-98C9A704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Internal document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E6113-0A60-421C-ABC3-9FE18501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50A31-B652-4811-BA8C-0E455990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Estimate-style editor with Change Order title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24667-8C70-457D-84B7-D4797DB5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5F80C6-7D3B-4D71-A8DE-B8ED9E53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Sequential number such as #1008-CO1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2714BE-528F-4B60-8BB4-07401A2A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B8695-2795-4CC1-93BE-0A8D2D23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Original Estimate and Contract reference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84FFA-37B3-4401-BCFA-AE93D4A3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2880EB-1D29-43F5-B119-A8D9C416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Signed Contract change and shared summary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72EAC-4F41-433C-9E73-778552F2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412B47-4B2E-41D4-980D-6689F7C5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Line-scoped conflicts; unrelated COs may coexist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F4CC1A-C86A-432B-B4E4-28580119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04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Customer web link and PDF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8F6DBD-FCFC-4DA7-8685-9ABDAAA6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14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9C4CE6-3D71-4E5B-B4BA-780AC5FF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574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Reuse the Estimate customer document system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A70916-8FA6-4BC9-BB6D-DCC3EB71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24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70C50E-C235-4C7F-9416-95290B1B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Title the document Change Order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F55B22-CEB2-4754-9798-6D46E9B9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33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6E1BDE-6F25-41E4-A5D8-6630D451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Show Linked to Estimate #...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F02729-9EFA-4FD9-B1E0-12C625D9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0FB133-4028-4F82-B0DA-B258EB91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Explain added, removed, or revised scope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001BEA-19B2-49B7-AD51-9749D33F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691087-7032-4FDC-8EAA-0694C49C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958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Use CO items, totals, notes, attachments, and terms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DF8F60-6E02-4F68-8FE8-D969C102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6F4F1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A60CB0-76DF-4F74-8F87-7CAA4EF0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Internal pools and allocation mechanics never appear on the customer document.</a:t>
            </a:r>
          </a:p>
        </p:txBody>
      </p:sp>
    </p:spTree>
    <p:extLst>
      <p:ext uri="{BB962C8B-B14F-4D97-AF65-F5344CB8AC3E}">
        <p14:creationId xmlns:p14="http://schemas.microsoft.com/office/powerpoint/2010/main" val="19108074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232FB3-DFB1-4925-91E9-EA986794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HAPPY 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5930A-1296-4C76-9EB4-FC2A51B4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Retainage happy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D7DFE-24D6-44C5-939B-BE375C27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E1C27B-F585-4228-AA9E-F8A35593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490C4-9774-4445-9921-5E9223AF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83BE0-F2E2-44F4-8EF6-4E0C89EA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4860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E2ADB-52C4-4D40-A98F-A23D3393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22193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Progress Invoice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F2962-808B-4F77-BA28-A50FAD44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962150"/>
            <a:ext cx="24860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36DFDF-E8D1-4BD1-A9D6-7E7CC40C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76450"/>
            <a:ext cx="22193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Retainage withheld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02530-11F5-4F9F-9E0D-032CE5DE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62150"/>
            <a:ext cx="24860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D0462-E200-4CC9-81D5-80B37412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22193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Retainage Balance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C76301-AB5C-478D-974E-0E495A55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962150"/>
            <a:ext cx="24860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6F79F-D791-4233-BD0E-5A657226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076450"/>
            <a:ext cx="22193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Release Invoice</a:t>
            </a:r>
          </a:p>
        </p:txBody>
      </p:sp>
      <p:cxnSp>
        <p:nvCxnSpPr>
          <p:cNvPr id="46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095625" y="24193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47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924550" y="24193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4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753475" y="24193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7673C5-FA76-44F9-A21D-6B64E64C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Withholding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0F1BB6-39C0-48AF-9744-5CC75E3A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E2A4F6-4533-493D-87C1-1310417D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453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Reduces the Invoice amount due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8B2E24-C7C2-4526-9CDC-3CA63ACF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B207ED-66AB-4438-B08E-5E8A996A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453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Leaves completed Contract scope unchanged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9668DC-A0C5-4AF1-ADE8-DDE5F4BC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ED7DF5-5DCE-492D-B3E0-48B88E8F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453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Creates held Retainage Balance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6C5799-F861-4D61-B09A-A49BABC8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052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Release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18D365-9BF5-48EC-B752-10F040F4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57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5DC661-4B44-4DC3-9A95-545B2113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00500"/>
            <a:ext cx="453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Bills previously withheld money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5AE410-3149-420F-B4CA-FE05E2F0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10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FCBF20-CFDB-46C0-BBBD-B49CD28B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453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Supports partial or full release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D3AC20-BB62-41A3-AA9C-03FAEB7D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62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7CAAC1-69B9-48DA-A92E-BF1575EF3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53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Creates no new Contract scope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7BF320-9EE6-4016-9B61-2DDAC277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4AB374-CF51-4862-9CFF-0C400D02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Contract Progress and milestone completion use the full gross work billed.</a:t>
            </a:r>
          </a:p>
        </p:txBody>
      </p:sp>
    </p:spTree>
    <p:extLst>
      <p:ext uri="{BB962C8B-B14F-4D97-AF65-F5344CB8AC3E}">
        <p14:creationId xmlns:p14="http://schemas.microsoft.com/office/powerpoint/2010/main" val="15832641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59BF97-BC24-4981-8B73-0F189485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RETAINAGE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4E254-9171-4822-A835-975F77E1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Retainage frontend and customer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E4ECE-59F8-4524-A4AC-7128A17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66C3E-D583-4D9A-A27F-1BAEC599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E9C5B-8DC2-42E7-9503-E6684EAF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85A8E3-C5CD-4DF4-B829-13AC62A2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Internal controls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352BD1-43FC-4F1A-97BC-CCA3A189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931A52-4BD8-4F4B-9104-BE844607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Show withholding only in enabled scenarios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49E64-813C-499D-B509-F6F7EFA3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FFAF6-49EE-49F1-ACA0-D41C0716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Display tracking only after retainage exists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3944CF-9D4B-4B92-9BAC-0318FCD7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1E11A-AF95-40C7-BAB8-6ADAF53B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Track retained, released, held, and available amounts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6E243F-5108-4C68-BDC2-56A9AE92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9A49D4-B796-4232-8692-C88BC854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Block release above available balance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DB1011-68CF-493A-9691-FF005CBC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3FB50-B07B-4A8E-B826-A76627F0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Keep one active release Draft under existing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06DCCE-9BB9-46E2-B701-D1DFA26A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04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Customer presentation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AB82D8-F1BF-44EB-AA4D-45C9F2A1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14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2AE132-F0F6-41B4-A908-6E908451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574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Original Invoice shows Retainage as a deduction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8DB599-7B94-4BB5-B6C4-A65D8AFF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24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BD48C3-91DE-4584-B0CA-7D888E13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Release Invoice identifies previously withheld funds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28D7CC-7B02-4214-A323-FDCA702A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33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2A273B-76DB-4900-9F2F-6021D15F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Single line: Retainage 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329855-B3C8-4F9E-84FE-7019B349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3AB9AD-FEDC-4776-9D96-E97C6DCC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Qty 1 and the released amount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C5207C-46C5-4C30-A64C-FE241942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0C292C-CC75-4A45-9792-85343CB8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95800"/>
            <a:ext cx="472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 suggestion that release represents new work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D69CDC-8AA2-43F5-84D8-C23546B1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C66251-00AF-48D0-ADF2-F4DE8D8E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 Retainage release calculates no second tax and does not increase Total Invoiced.</a:t>
            </a:r>
          </a:p>
        </p:txBody>
      </p:sp>
    </p:spTree>
    <p:extLst>
      <p:ext uri="{BB962C8B-B14F-4D97-AF65-F5344CB8AC3E}">
        <p14:creationId xmlns:p14="http://schemas.microsoft.com/office/powerpoint/2010/main" val="123691770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2446BB-CCAA-4BDC-BC00-F5C1A263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PAYMENT SCHEDULE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D03C5-CD80-4012-A543-76AD1646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Payment Schedule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FABE5-A60D-4929-806B-522ADF4A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093C2-2855-4686-BE93-2459F5FC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FA49A9-F2F8-47EC-A62F-E97D4CC9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7BD26-C648-4EA0-A251-24F7A9A0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A schedule plans billing milestones on the Contract. Actual Progress Invoices remain authoritative.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F797DA-C6BC-4BC5-B37A-D519B513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98084-FD87-42A6-BDA6-AECCCA0C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Contract and schedule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4F5641-4A1C-4F4D-80BA-A8D8C18D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2479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5A701-D865-456C-B41A-64F21D6C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3230" y="23622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Milestone selected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309172-8F1A-43D7-B09A-4DF15257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160" y="22479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D0571C-062F-4E8F-8D8E-3F550F68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510" y="23622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Progress Invoice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BED672-E7D6-4B66-97B0-F0D40CEA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440" y="22479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170B6-F3BE-48B6-AFF3-08F288A9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3790" y="23622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Contract scope consumed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4F364-3D81-4D3B-A83F-779A5375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0720" y="2247900"/>
            <a:ext cx="201168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54D7BA-647D-4771-A211-2776F489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4070" y="2362200"/>
            <a:ext cx="174498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Schedule updated</a:t>
            </a:r>
          </a:p>
        </p:txBody>
      </p:sp>
      <p:cxnSp>
        <p:nvCxnSpPr>
          <p:cNvPr id="43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621280" y="2686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1560" y="2686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45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101840" y="2686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342120" y="2686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F6FED"/>
            </a:solidFill>
            <a:tailEnd type="arrow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79C23-09D4-4677-A0DF-AF5F8C31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 milestone can guide amount and naming.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4D2C6D-00D6-4F8A-B1D2-B572CE74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It cannot bypass source-line availability, Draft reservations, or overbilling protection.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064AA-E679-45BF-BA49-A3D41DBD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9570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Schedule state follows the linked Invoice.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B2A635-B57C-4B1F-A168-79134EAA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71950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Planned becomes Draft invoice, then Invoiced when the Invoice opens. Cancellation returns the milestone to Planned.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B83C97-89F7-421C-997F-485F65D9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BCC700-4024-4604-BC7E-8795DA35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Schedule allocation can exceed 100%. The warning does not create scope or authorize billing.</a:t>
            </a:r>
          </a:p>
        </p:txBody>
      </p:sp>
    </p:spTree>
    <p:extLst>
      <p:ext uri="{BB962C8B-B14F-4D97-AF65-F5344CB8AC3E}">
        <p14:creationId xmlns:p14="http://schemas.microsoft.com/office/powerpoint/2010/main" val="112481684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52443A-0BEE-4421-8C75-CFDE610B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PAYMENT SCHEDULE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7C215-072F-4F44-97F2-5BA1646F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Payment Schedule interactions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63876-915B-46C8-937D-81736742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ACCCF-EDB6-4888-9732-4D3F6E9D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7F992-CDD2-4775-9BAC-B8388E18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FA260-875F-4A16-8DC1-5767B651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Standard Invoice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088B7-E123-4166-A5A8-0BDEB35C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002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Separate conversion path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6A19A-3CCA-4F57-B20B-826DD1BA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Successful save removes the applicable schedule path under existing rules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E385E8-0420-41C5-ACFA-CD31A0A5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76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E210DB-71A9-40DF-AD6A-AFD29168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Progress Invoice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07A0B4-7712-400C-87A3-28BAC7D5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003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Milestone guides the draw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4B99EA-4754-4DCE-9944-91322222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00325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Actual allocation consumes Contract scope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02261-6B9B-428D-A2B8-CA5B41C2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76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3AF3E6-9E93-43AA-ACFB-4B31FED4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Accepted 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2FC65F-4855-4479-8C82-3CE17409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Contract Value changes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0FF2B2-A939-4EF0-A557-9F9F179C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004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Future percentage milestones recalculate; historical actuals stay fixed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31B748-20BF-49B8-B6D7-9CE1B7FA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76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55413F-29B8-4FA3-A02F-65EE30E9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Retainage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037196-0B7B-4AE2-B9EE-7FAFFC70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005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Withholding stays separate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605D66-8ABF-4C3A-ABDD-B685A35C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00575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Release does not create milestone work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A8170F-ECDC-4035-9B43-EEF7D159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Historical milestone amounts never rebalance automatically after actual invoice variance.</a:t>
            </a:r>
          </a:p>
        </p:txBody>
      </p:sp>
    </p:spTree>
    <p:extLst>
      <p:ext uri="{BB962C8B-B14F-4D97-AF65-F5344CB8AC3E}">
        <p14:creationId xmlns:p14="http://schemas.microsoft.com/office/powerpoint/2010/main" val="9133264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8F4276-5F99-418E-97D9-A47F1025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NON-HAPPY 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0A395-18AC-459D-8EC8-E092F8A7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Progress Invoice and Change Order edge cases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83343-FC54-48F2-B353-C3CFDCE5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A8922E-721A-4C1A-8CB9-FAC99532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8E177-2CFD-4B8D-9DB0-930C60CF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53EC2-CA29-4A06-A904-DBB4524F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Active Draft exists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313C4-6412-43E5-95CB-8B1E1476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Block another tracked Draft; keep reserved scope unavailable.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34BA02-26D3-47CE-B050-BB7C7878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59963-4372-4913-BC0F-74F9927F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Attempted overbilling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4D30C1-3DA3-4388-AA90-B163734B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Prevent creation beyond Contract and source-line availability.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79C24-2073-4A17-BDA3-CB92E398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379A66-ADB8-4200-AB60-6D8E7813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Final scope with unused discount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59D31-A7A9-45CC-83ED-BAC0760E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Warn about unused Discount Pool and resulting over-invoiced amount.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ADD35A-6992-4A7A-8896-C714EA58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1F35C-398F-474A-97BD-B7F3D052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Posted Invoice edit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8EBBA8-94E9-4F02-B51D-3112A95A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Only the latest eligible unpaid Open Invoice can change financially.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14D4B0-3692-4C66-8BA1-C4547B7F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621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CO accepted with Draft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6D0FEC-9B68-4323-AA04-DDECD4CE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050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Cancel the Draft, release reservations, and require a fresh draw.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B73146-3F2A-408E-A553-BFD4BB3E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71273C-719B-452B-BE64-7603A46E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28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Positive CO after billing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E81F4D-0B58-495D-92F0-9230F5EA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718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Return the Contract to Partially Billed.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CE2793-1C6A-48D9-91AF-A8509B47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433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DECE12-2A89-4EFC-AEED-8C7DE349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Deductive CO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A9658E-118D-41CF-A070-4F1506BA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386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Keep history fixed; show over-invoiced state when posted billing exceeds revised scope.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1EC4CB-17EA-4602-A687-AF819E02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101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4C030C-BA14-413C-9D04-26C8C5A6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Accepted CO correction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86B03C-18D8-499B-AA93-21BB161B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0540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Create another CO. Do not edit accepted financial scope.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02A742-B089-4221-A924-4D94BDFC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AEAE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041414-0B5A-4037-B1E1-51849E4B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19800"/>
            <a:ext cx="10591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F4E4E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BF4E4E"/>
                </a:solidFill>
                <a:latin typeface="Segoe UI"/>
                <a:ea typeface="Segoe UI"/>
                <a:cs typeface="Segoe UI"/>
              </a:rPr>
              <a:t>Tax Credit remains separate from principal when a deductive CO removes previously taxed scope.</a:t>
            </a:r>
          </a:p>
        </p:txBody>
      </p:sp>
    </p:spTree>
    <p:extLst>
      <p:ext uri="{BB962C8B-B14F-4D97-AF65-F5344CB8AC3E}">
        <p14:creationId xmlns:p14="http://schemas.microsoft.com/office/powerpoint/2010/main" val="16146831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ED027C-6F11-446C-BC74-12C26D3E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NON-HAPPY 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94587-4B70-462B-B80F-D8593148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Retainage and Payment Schedule edge cases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784E3F-42D1-478A-A5E3-DC19FD92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A2D11C-A23D-487C-B743-CB1F6049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B2D8B-7F30-46A4-A397-48401AB8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64916-95B9-4E21-BD3B-4B24DA33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Retainage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3B994-EBCC-4F07-ACF4-6B41F45D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9719A-A8F4-49F5-9D5C-076FA968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 retainage means no tracking UI or totals row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D66534-D586-4110-B39F-EFC253B3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F01C9-CB56-4D5D-9A1E-32BDE3B0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Partial release leaves the remainder held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F5ABA-7E45-45A2-BFF8-EE4D8BB8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56681-FB63-41EE-83D8-0BD2AA47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Over-release stays blocked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3F7A1-B4BC-4272-B195-2DBF7D9D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BE59B7-13DA-4BBC-9AF9-BE65F33C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Full Contract completion can coexist with held retainage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965FD1-D4EC-4882-A30B-3F593529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245B5-FBDF-41AA-8B45-72B663F8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Invoice cancellation reverses recognized withholding under existing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BA79AC-7246-4DA7-93D8-F68839E5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04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Payment Schedule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97226F-03F4-406F-B30D-F6D6F2EE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14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38B589-CB31-467F-8122-DDA30D5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574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More than 100% remains advisory over-allocation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72254D-F60D-4965-BE10-9E99BB91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62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DDC879-0BC5-4A42-8409-38B18488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Draft-linked milestone is not fulfilled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3E6AE4-3EAC-4507-89A1-D6DE2127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09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320E6-F6B9-4407-82B8-F5A106D3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Invoiced milestone cannot create another Invoice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AD44BE-508C-4A2F-AD1B-B89979B7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57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93D33F-E162-4A52-945F-15A7DDA2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005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Accepted CO recalculates future projections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A064D7-52C4-48C5-BDCF-A546F263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05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079517-B9BE-4964-8442-F56A9C5B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4724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Canceled Invoice restores the live milestone to Planned</a:t>
            </a:r>
          </a:p>
        </p:txBody>
      </p:sp>
    </p:spTree>
    <p:extLst>
      <p:ext uri="{BB962C8B-B14F-4D97-AF65-F5344CB8AC3E}">
        <p14:creationId xmlns:p14="http://schemas.microsoft.com/office/powerpoint/2010/main" val="78754225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4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5000EA-DC8B-425D-BC6B-E250C16C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1B1FF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91B1FF"/>
                </a:solidFill>
                <a:latin typeface="Segoe UI"/>
                <a:ea typeface="Segoe UI"/>
                <a:cs typeface="Segoe UI"/>
              </a:rPr>
              <a:t>QBO SYNCHRONIZATION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C3A88-A2E2-4148-8D0A-9F6480BF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QuickBooks Online ownership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5680D-B19A-420B-9627-A58A3AC0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5516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3CFB29-56D5-4AA1-9A21-C1D981A3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C5D4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B7C5D4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1B5103-8ADA-48C1-A8DB-EDA5BDE3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7C5D4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B7C5D4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C99BF-1946-4B67-91A5-535B6368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Cinderblock owns Contract billing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DB113-7754-4114-8106-1D91D776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1B1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9E138-A199-4F3F-88BD-CDB3925F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Contract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671042-E985-4001-989B-420BDABC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1B1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4DEC65-E68D-48AD-A211-2E04B2F5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Source-line allocations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20838-C487-46A5-8B0F-125948E1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1B1F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B4646A-54A9-4370-B751-4B27CB1F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Discount and Cost Plus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D7FFAC-2AF8-4B2A-8B48-A34711A7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1B1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5AF9F1-5BBF-485C-A66F-2AF157F8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Retainage Balance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6A6FDB-9866-4559-9E0D-6767FF91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1B1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9ED5BE-8E90-41F2-B6D0-1124E208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Payment Schedule and CO relationships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CD6929-3F09-4A9C-857C-472D4AA9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621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QBO receives accounting documents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06F04-771D-4F91-9D35-D3D91434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C6B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31E9B1-5E0A-4B60-AB52-65F262E6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QBO Estimates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6D921B-A66A-4E33-A837-3C3A6A48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C6B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3AAD8-57FC-4A83-BC18-2028D374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813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Ordinary QBO Invoices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770684-8038-45C8-A8CC-34CC4EA6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09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C6B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E34ED8-2181-4CFC-B478-230F2006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Actual quantities and amounts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D60EA7-30B2-4F7B-8A7D-59E57648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81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C6B4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2B65D-5C44-419B-968F-3380CD4A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Represented discounts and fees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2688F3-6531-4282-A941-783DA55D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52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C6B4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820451-C529-439E-8D57-FD79EEC8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958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4DF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8D4DF"/>
                </a:solidFill>
                <a:latin typeface="Segoe UI"/>
                <a:ea typeface="Segoe UI"/>
                <a:cs typeface="Segoe UI"/>
              </a:rPr>
              <a:t>Tax facts compatible with QBO configuration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18C2E4-A3A3-4291-9FD2-A77098B3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03A52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EB8879-3FA7-4BF9-8B07-EF2F6297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9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Cinderblock does not use QBO Progress Invoicing or QBO Estimate-to-Invoice progress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65447905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26247-D2CD-4EF4-9864-54358756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QBO SYNCHRONIZATION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C5F6B-B0BF-43D4-8153-A2D071D0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QBO document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863D7-A2B0-4840-B046-AAADAB86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DC7D3-B914-495E-8877-33FEC62A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A3477-11A8-4A8F-BADB-37EB53C0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3048000"/>
                <a:gridCol w="4876800"/>
              </a:tblGrid>
              <a:tr h="66675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Cinderblock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QuickBooks Online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rule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Estimate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Standard QBO Estimate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No QBO Progress Invoicing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Change Order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Separate QBO Estimate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Preserve CO identity; do not modify original Estimate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Standard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Ordinary QBO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Use existing Invoice sync behavior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Progress / Contract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Ordinary QBO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No QBO Estimate linkage or Contract lineage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Retainage Release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Ordinary QBO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One positive Retainage release line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9C8B5-136C-4583-A3DD-4D4D3789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Status mapping: Partially Billed → QBO Converted; Billed → QBO Converted. Cinderblock preserves the local distinction.</a:t>
            </a:r>
          </a:p>
        </p:txBody>
      </p:sp>
    </p:spTree>
    <p:extLst>
      <p:ext uri="{BB962C8B-B14F-4D97-AF65-F5344CB8AC3E}">
        <p14:creationId xmlns:p14="http://schemas.microsoft.com/office/powerpoint/2010/main" val="84242341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1141BF-6DAB-4D49-98E8-2CFF88A9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QBO SYNCHRONIZATION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5C7FD3-2006-40D9-992A-4E016256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QBO line representation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07392-6539-47A1-A088-4BF6D86B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421C49-A907-4721-8860-D88FA139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F70EA-832B-4ED1-A070-F88C4427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4D68D-F945-4A9C-B1EC-82E64DAA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Progress quantity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54703C-6944-40C3-9663-2E5F4D67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314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Contract line</a:t>
            </a:r>
          </a:p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Qty 10 × $100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25% billed</a:t>
            </a:r>
          </a:p>
          <a:p xmlns:a="http://schemas.openxmlformats.org/drawingml/2006/main">
            <a:pPr algn="l">
              <a:defRPr sz="150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Qty 2.5 × $100 = $250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E20D7-97A4-42BF-ACD8-61F14316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QBO receives the actual fractional quantity even if the customer view hides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1FA87-5E65-47B7-BECF-4ABDBE0F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049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Retainage withheld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C68F1C-83C8-408A-B4A6-04997490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14550"/>
            <a:ext cx="3238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19FD4-EFC0-4918-991F-F5280B88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289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Retainage   Qty 1   -$1,000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0EB132-03DD-4110-AFA9-43AA2D12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766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One negative line. No allocation across work lines.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A1F548-FD33-4B8D-B854-52C143F9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049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Retainage release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1B19F9-5E80-4414-85D4-E560EE03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14550"/>
            <a:ext cx="32766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6F4F1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163C6C-6E13-4B5F-A35A-191D8C83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431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Retainage release   Qty 1   $1,000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3578D8-2CB8-4D13-8F67-9BB2F372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76600"/>
            <a:ext cx="3276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One positive line. No original work lines are resent.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0EC46F-403A-4943-84B9-62717B10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72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A26B4-BAAF-4F14-A830-C3CEF703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19750"/>
            <a:ext cx="1059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Discount and Cost Plus sync only when the Cinderblock document represents them.</a:t>
            </a:r>
          </a:p>
        </p:txBody>
      </p:sp>
    </p:spTree>
    <p:extLst>
      <p:ext uri="{BB962C8B-B14F-4D97-AF65-F5344CB8AC3E}">
        <p14:creationId xmlns:p14="http://schemas.microsoft.com/office/powerpoint/2010/main" val="19722968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2BA25D-68D0-40AD-8D80-725B6EA5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QBO SYNCHRONIZATION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D248B-89FE-4E12-A5A5-A8FA4244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QBO accounting safeguards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7F604-A1DC-4B47-88EF-0F0FC1F7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5BFD5-8EE8-4E9E-A72A-3BB7CF02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0ABE11-CD8B-40B1-85E9-1F703759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24EA9-039D-4D3F-AF5B-399B74CA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A diverged QBO transaction requires an explicit conflict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D48F19-BFB4-4812-8263-52A2739B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500313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835EA-738E-46AB-8327-536E483F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22336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Last successful sync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79ADE-240B-4149-9E93-B3BE6713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152650"/>
            <a:ext cx="2500313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35392D-6A56-4CA8-87E6-97F6F262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266950"/>
            <a:ext cx="22336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QBO changes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E0E5D-D076-425D-840F-05CCEF49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152650"/>
            <a:ext cx="2500313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9525">
            <a:solidFill>
              <a:srgbClr val="2F6FE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EDE10-4BD0-44DD-9D85-FC418A41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66950"/>
            <a:ext cx="22336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Conflict surfaced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E66BE7-84CB-4982-B3CA-EB21252B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2152650"/>
            <a:ext cx="2500313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5FB62E-D6CD-4345-A320-2E419794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5438" y="2266950"/>
            <a:ext cx="22336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User resolves safely</a:t>
            </a:r>
          </a:p>
        </p:txBody>
      </p:sp>
      <p:cxnSp>
        <p:nvCxnSpPr>
          <p:cNvPr id="52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09913" y="25717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F4E4E"/>
            </a:solidFill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934076" y="2571750"/>
            <a:ext cx="323849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F4E4E"/>
            </a:solidFill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758238" y="25717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F4E4E"/>
            </a:solidFill>
            <a:tailEnd type="arrow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D8B997-0C66-4C5D-8D3F-808DD8A4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F4E4E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BF4E4E"/>
                </a:solidFill>
                <a:latin typeface="Segoe UI"/>
                <a:ea typeface="Segoe UI"/>
                <a:cs typeface="Segoe UI"/>
              </a:rPr>
              <a:t>Protected situations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8D0A62-B4BD-49E4-BCBB-5A57E589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4E4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EF5EEC-B5B2-4B23-BA51-4275DF18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QBO edit, deletion, or void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4444DC-CB01-4819-8C34-D574BC78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4E4E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1545B7-460D-4D2A-B037-CFB297F0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Payment or credit recorded in QBO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9E0B5D-22AD-4AF4-B310-D74F8FF6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4E4E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BB4012-1EE4-4E3A-950A-53D69ECF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Cinderblock edit, cancellation, or invalidation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53AAF6-F06B-46F3-9662-97F1FCC9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4E4E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104A6E-9FD2-4856-9827-0D720F14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435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Failed or uncertain synchronization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9CAB3A-1E66-4556-9508-F47074CB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62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Required outcome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CA1400-AFFD-408F-A681-D112ACF7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14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836FD0-AE23-497E-BBFF-BD4B5836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Preserve Cinderblock Contract state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F32BC6-6F31-4508-A6F4-FD91CDC7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10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0F2E75-6B1C-4B2B-821E-F2096280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Do not silently overwrite or recreate QBO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927A59-7B3F-4169-B74D-8FB5886A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05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230BFF-AC44-4B65-85A3-FBD5A2DB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482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Block duplicate Accounts Receivable risk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E9E505-E0CE-4577-A9BB-00AA6247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600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557435-DB9B-4905-ADE2-1848457C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435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Require intentional accounting resolution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1CF5D1-4A61-4A13-862F-DFD9FEA3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7BCA8E-5D63-4719-AA11-A5EACA29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591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QBO payment activity can change settlement state. It never changes Contract Progress or Contract scope.</a:t>
            </a:r>
          </a:p>
        </p:txBody>
      </p:sp>
    </p:spTree>
    <p:extLst>
      <p:ext uri="{BB962C8B-B14F-4D97-AF65-F5344CB8AC3E}">
        <p14:creationId xmlns:p14="http://schemas.microsoft.com/office/powerpoint/2010/main" val="165330311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31F8609-387D-4ED7-BFE7-9BC832BB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HANDOFF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F9775-1075-43E9-999A-FF5CCEC6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Frontend requirement 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9ABDC-E4A6-4906-BD29-EFE60031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42104-853C-4192-9233-151929B1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212D0-2CB6-4613-81E6-06299B50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E5114-583D-45DE-80C7-0F2DE8AE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Progress Invoice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4D160-4F19-487B-BB8C-CA904961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FE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616BE-6351-4930-A174-9E2DDB46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DEE841-60F7-46B8-8F91-EA3F1574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Contract-level creation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410F14-F2B7-4D58-B98B-D613EA1D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94F9C5-EBA7-49C6-81C1-B99D7649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Gross Remaining subtotal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10723-0883-4CB9-882D-B545EA53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8F77A-707B-49B8-BE7F-29EAF410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Source grouping and availability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41D0F-70C2-4297-9FCB-08D829EA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926101-8DD2-444D-8BED-0CC11412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Draft reservation and locks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03495-B9F2-4B2A-B32B-332244D7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E4699C-343C-4834-ABEE-0716FD99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Contract Progress and status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BDAFBE-421C-4113-9F8B-AFD792A7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99808-E3E4-48CE-B88C-8DFFD11B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Saved-document previews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28407E-2574-4ED0-8F1C-BD071934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621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Change Order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765BB8-0008-4FD5-BFC2-B85C38FC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002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4762C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577617-26EE-4F1D-8E78-9510E58E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62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D6CE25-CCD1-48B6-A25B-961BF5A7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050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Estimate-style editor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9C1733-4354-4C3E-802F-C96EEC2B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914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6FBB39-180A-4400-BF5F-95C6DFBE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 number and Estimate link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CE63B7-A071-4059-9D28-8066ECF1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67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51E499-5909-4C35-8D7B-B41132D0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099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Approval lifecycle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C56226-951A-46B5-9280-673C16EB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19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CC5303-D7A8-40F9-970C-B1B4681F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624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Contract billing status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853B3B-DE0F-4590-AB28-C6658D8E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72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39334F-D120-4579-BF75-DFF7A4E4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Net Contract change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BD7514-CD6C-4879-9AB6-E4270B35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24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762C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BCDDE1-21F7-4876-872D-81B88546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0673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PDF and Customer Link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EAC83C-01B1-44D8-88BF-3DEDF5A8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621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8676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68676"/>
                </a:solidFill>
                <a:latin typeface="Segoe UI"/>
                <a:ea typeface="Segoe UI"/>
                <a:cs typeface="Segoe UI"/>
              </a:rPr>
              <a:t>Retainage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67EA6B-FE37-41C7-BAFC-438E30AC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02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8676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E477E9-C723-45E1-A46B-B90C6FEE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4B6A68-0996-4942-8CA6-169EE376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050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Withholding control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FA777F-9BE2-4E14-91D2-D15FC2A2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14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0EC377-D582-42CA-B495-038D721B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575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Conditional tracking block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B976F2-AA0C-4EBC-8B4C-D54C49C4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67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409A7E-13BF-4B24-BE8B-A4FC43F1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099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Available release limit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2FBA62-733B-46B6-ABD6-AAA40EE9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19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3E5EB4-8047-4051-BD79-DE886720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624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Partial and full release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2BF6E8-3F76-419E-B0F0-D8C8861F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72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2E0969-7F24-4E40-A817-E1608F6E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No empty state when absent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AAFB58-CD57-4CE9-8509-6D7BBE50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24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76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66D322-6532-464F-B448-1DFA9883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67300"/>
            <a:ext cx="3009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Customer release document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58598F7-55AE-42C8-9DE1-8E7EC46D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9F0FF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182865-25AB-4126-8220-C9D10645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591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Standard Invoice keeps its existing independent copy and conversion behavior.</a:t>
            </a:r>
          </a:p>
        </p:txBody>
      </p:sp>
    </p:spTree>
    <p:extLst>
      <p:ext uri="{BB962C8B-B14F-4D97-AF65-F5344CB8AC3E}">
        <p14:creationId xmlns:p14="http://schemas.microsoft.com/office/powerpoint/2010/main" val="55648062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48282-E256-4D1C-8E15-0A5096B5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HANDOFF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F1374-90B1-407B-AE22-F4B2D257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Customer-facing requirement 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7DF5F5-EA1F-4DAB-AFA1-5A27146D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6A0B1-77B7-4AAB-AE73-13A73EB7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F0A6A-FBF0-4409-95C8-0014B6EA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962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286250"/>
                <a:gridCol w="4305300"/>
              </a:tblGrid>
              <a:tr h="9906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Document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Customer sees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Customer does not see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Progress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Contract amount, prior billing, current billing, balance, applicable adjustments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Internal pools, reservations, or allocation mechanics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Change Order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CO identity, linked Estimate, revised scope, Contract change, totals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Internal Contract ledger or source-allocation rules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Retainage Release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One Retainage release line and clear amount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Original work repeated as new scope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E1CD14-D3AE-4F39-9BD4-CD2A5F51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Web link and PDF present the same core business information. Conditional totals remain conditional.</a:t>
            </a:r>
          </a:p>
        </p:txBody>
      </p:sp>
    </p:spTree>
    <p:extLst>
      <p:ext uri="{BB962C8B-B14F-4D97-AF65-F5344CB8AC3E}">
        <p14:creationId xmlns:p14="http://schemas.microsoft.com/office/powerpoint/2010/main" val="140783055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34DF71-4A93-4D75-8697-5E089648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B76F8-42E0-42AF-8813-69304FC9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Technical details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37FEFD-2766-443C-A0CE-4C2BCC92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23BCC-7962-4357-8D91-35A575FB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AB40E-CC99-4A2C-A4E8-C4D23646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8D4FA1-F278-49D9-9B49-E2F8EA9D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Only implementation constraints that preserve the business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96C6A-0A21-4FF2-86E6-3C7E5398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Stable lineage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BAFFE7-F1D6-42AE-82B8-233219D2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90750"/>
            <a:ext cx="790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Persist source identity so revisions never redistribute historical billing.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D33C6-71EA-4C83-B9F7-F5D4A298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53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9F9A0-C56A-4AB2-AAC5-2131FF12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Deterministic money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5BDB2-53A2-4DC2-8F58-3FFB28FB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28950"/>
            <a:ext cx="790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Use fixed decimal calculations and reconcile displayed components to totals.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FE3EAE-C908-498D-A760-174AF03F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53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FA4E58-D449-4C2A-9D07-30A3D50B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Document 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B9ABB2-D01F-4C39-A605-A842E8F3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67150"/>
            <a:ext cx="790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Preserve Estimate, CO, Invoice, and external accounting identifiers.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3226F3-421D-4F78-86D9-41E97DD3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53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DD4989-156E-4BCE-ABD1-7581F518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Existing systems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152EE3-7F2B-4A64-9449-7AA524E6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05350"/>
            <a:ext cx="790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Reuse current tax, payment, permission, and QBO sync behavior unless these requirements override 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827A85-917B-4BF5-858F-051185E2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D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D5043-32F5-47D3-AADD-84EB2FF3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48350"/>
            <a:ext cx="1059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API design, schemas, polling, webhooks, and service boundaries remain outside this business handoff.</a:t>
            </a:r>
          </a:p>
        </p:txBody>
      </p:sp>
    </p:spTree>
    <p:extLst>
      <p:ext uri="{BB962C8B-B14F-4D97-AF65-F5344CB8AC3E}">
        <p14:creationId xmlns:p14="http://schemas.microsoft.com/office/powerpoint/2010/main" val="93360961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ED433A-A197-4E8F-9F4B-66F2E09D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9A2F4-4ED6-48E6-92A8-F808D22C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Open production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C9D409-6E32-4D27-80E5-C211F74C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111DB-8FF9-4FD4-88E5-0D239FB4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9D248-6D7F-4844-902A-FDCD5D73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EEF7C8-0565-4328-BF9A-1BC71353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The core Contract model is complete. Production QBO rollout still needs product and accounting decisions.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F41F4B-DCD6-4F94-84DA-D7A358A4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Accounting mappings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D2A0C4-AE55-4361-933F-A992248E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Confirm Product/Service and account treatment for Retainage, Retainage release, discounts, and Cost Plus.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1C2681-7003-4823-9BCB-D70D53A6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76D859-92B4-4081-A792-F6EEE829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4762C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4762C"/>
                </a:solidFill>
                <a:latin typeface="Segoe UI"/>
                <a:ea typeface="Segoe UI"/>
                <a:cs typeface="Segoe UI"/>
              </a:rPr>
              <a:t>Tax alignment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C7FF42-E7EF-4906-B6AB-698EB97F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4800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Confirm compatible calculation order and rounding across discounts, Cost Plus, Retainage, negative lines, and supported QBO tax modes.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89767B-5E79-46DA-82A5-0A2CBC57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91FE15-640E-428C-8F4A-1FA2E32B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F4E4E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BF4E4E"/>
                </a:solidFill>
                <a:latin typeface="Segoe UI"/>
                <a:ea typeface="Segoe UI"/>
                <a:cs typeface="Segoe UI"/>
              </a:rPr>
              <a:t>Conflict resolution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48DDDC-4DB6-42D5-8379-0B301F0F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Define safe outcomes for Keep QuickBooks version, overwrite, void, relink, and detach without importing QBO edits into Contract ledgers.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008ACD-5693-4CD3-8BBA-D2A380E5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31D2A-D28E-44DF-B0E4-786980CA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F4E4E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BF4E4E"/>
                </a:solidFill>
                <a:latin typeface="Segoe UI"/>
                <a:ea typeface="Segoe UI"/>
                <a:cs typeface="Segoe UI"/>
              </a:rPr>
              <a:t>Accounting restrictions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DDC3C2-7270-4035-BD2C-5D88DC86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6250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1566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41566B"/>
                </a:solidFill>
                <a:latin typeface="Segoe UI"/>
                <a:ea typeface="Segoe UI"/>
                <a:cs typeface="Segoe UI"/>
              </a:rPr>
              <a:t>Define permissions and behavior for payments, credits, deposits, closed periods, reconciled transactions, and material versus metadata edits.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3B22BE-3AB3-4A13-BEB1-49CBA7F3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AEAE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A265C-9EFD-47D3-9D79-4E2AB43A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86450"/>
            <a:ext cx="1059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F4E4E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BF4E4E"/>
                </a:solidFill>
                <a:latin typeface="Segoe UI"/>
                <a:ea typeface="Segoe UI"/>
                <a:cs typeface="Segoe UI"/>
              </a:rPr>
              <a:t>Safe default: preserve both systems, block the risky QBO write, and require intentional resolution.</a:t>
            </a:r>
          </a:p>
        </p:txBody>
      </p:sp>
    </p:spTree>
    <p:extLst>
      <p:ext uri="{BB962C8B-B14F-4D97-AF65-F5344CB8AC3E}">
        <p14:creationId xmlns:p14="http://schemas.microsoft.com/office/powerpoint/2010/main" val="79881000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F9E498-0AEB-4B30-94E5-492234EF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FED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2F6FED"/>
                </a:solidFill>
                <a:latin typeface="Segoe UI"/>
                <a:ea typeface="Segoe UI"/>
                <a:cs typeface="Segoe UI"/>
              </a:rPr>
              <a:t>SELF-AUDIT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7AAD0-B74C-480A-BBAE-CD2A4315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638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142638"/>
                </a:solidFill>
                <a:latin typeface="Segoe UI"/>
                <a:ea typeface="Segoe UI"/>
                <a:cs typeface="Segoe UI"/>
              </a:rPr>
              <a:t>Business logic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58D40-1EA6-4EE8-AB42-B19987F6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EA35C6-795A-4688-98F3-9C1A8914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825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CINDERBLOCK  /  DEV HANDOFF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6047D-FC44-41EC-8B02-1F712F59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7F8E"/>
                </a:solidFill>
                <a:latin typeface="Segoe UI"/>
                <a:ea typeface="Segoe UI"/>
                <a:cs typeface="Segoe UI"/>
              </a:defRPr>
            </a:pPr>
            <a:r>
              <a:rPr sz="900" b="1">
                <a:solidFill>
                  <a:srgbClr val="6F7F8E"/>
                </a:solidFill>
                <a:latin typeface="Segoe UI"/>
                <a:ea typeface="Segoe UI"/>
                <a:cs typeface="Segoe UI"/>
              </a:rPr>
              <a:t>29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914400" y="1562100"/>
          <a:ext xmlns:a="http://schemas.openxmlformats.org/drawingml/2006/main" cx="10363200" cy="3581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1809750"/>
                <a:gridCol w="4552950"/>
              </a:tblGrid>
              <a:tr h="51162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Area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Result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Audit finding</a:t>
                      </a:r>
                    </a:p>
                  </a:txBody>
                  <a:tcPr marL="114300" marR="114300" marT="76200" marB="76200" anchor="ctr">
                    <a:solidFill>
                      <a:srgbClr val="142638"/>
                    </a:solidFill>
                  </a:tcPr>
                </a:tc>
              </a:tr>
              <a:tr h="511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Standard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PASS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Independent copy and conversion flow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11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Progress Invoice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PASS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Contract-based from Estimate acceptance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11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Change Order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PASS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Revises Contract without rewriting history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11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Retainage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PASS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Withholding and release remain outside scope completion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11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Payment Schedule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PASS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Planning layer; actual tracked billing remains authoritative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  <a:tr h="511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QBO sync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PASS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1566B"/>
                          </a:solidFill>
                          <a:latin typeface="Segoe UI"/>
                          <a:ea typeface="Segoe UI"/>
                          <a:cs typeface="Segoe UI"/>
                        </a:rPr>
                        <a:t>Accounting destination with conflict safeguards</a:t>
                      </a:r>
                    </a:p>
                  </a:txBody>
                  <a:tcPr marL="114300" marR="1143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48CAE2-7E35-42A6-8ED2-EB4E4025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10363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4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0612B-B9AF-4CEC-946B-068ABD11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76900"/>
            <a:ext cx="998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7A52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F7A52"/>
                </a:solidFill>
                <a:latin typeface="Segoe UI"/>
                <a:ea typeface="Segoe UI"/>
                <a:cs typeface="Segoe UI"/>
              </a:rPr>
              <a:t>Core flows are internally consistent. Open QBO production decisions are listed in the preceding appendix.</a:t>
            </a:r>
          </a:p>
        </p:txBody>
      </p:sp>
    </p:spTree>
    <p:extLst>
      <p:ext uri="{BB962C8B-B14F-4D97-AF65-F5344CB8AC3E}">
        <p14:creationId xmlns:p14="http://schemas.microsoft.com/office/powerpoint/2010/main" val="19905758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2026-09-20T17:22:22.4130000Z</dcterms:created>
  <dcterms:modified xsi:type="dcterms:W3CDTF">2026-09-20T17:22:22.4130000Z</dcterms:modified>
</coreProperties>
</file>